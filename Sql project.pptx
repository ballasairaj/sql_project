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Lst>
  <p:sldSz cx="12192000" cy="6858000"/>
  <p:notesSz cx="6858000" cy="9144000"/>
  <p:embeddedFontLst>
    <p:embeddedFont>
      <p:font typeface="Algerian" panose="04020705040A02060702" pitchFamily="82" charset="0"/>
      <p:regular r:id="rId28"/>
    </p:embeddedFont>
    <p:embeddedFont>
      <p:font typeface="Baskerville Old Face" panose="02020602080505020303" pitchFamily="18" charset="0"/>
      <p:regular r:id="rId29"/>
    </p:embeddedFont>
    <p:embeddedFont>
      <p:font typeface="Bell MT" panose="02020503060305020303" pitchFamily="18" charset="0"/>
      <p:regular r:id="rId30"/>
      <p:bold r:id="rId31"/>
      <p:italic r:id="rId32"/>
    </p:embeddedFont>
    <p:embeddedFont>
      <p:font typeface="Copperplate Gothic Light" panose="020E0507020206020404" pitchFamily="34"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43"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E7D8F98-D11D-3A0C-DBED-078F8F180CB6}"/>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F47E1810-B1DD-7AD5-DFAA-CCE574C0302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9A016551-DE7B-0B9B-4135-5AA48B921C1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9541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236F5A3-836E-09A0-04B2-F7947DBA6B41}"/>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9B8075F-7129-B2AF-AEA6-2A97B262FD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F5CE9501-F1CF-B2CB-3B13-EAD1238C00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2261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8A326B5-7BB0-F5D5-84BA-75CD04CC9785}"/>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C74E9A5-A47A-6400-3C13-3E6F406F2E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0945AE4-AEA8-ADA5-8217-5A35256092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1685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18</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86368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IN" sz="1200" b="0" i="0" u="none" strike="noStrike" cap="none" smtClean="0">
                <a:solidFill>
                  <a:schemeClr val="dk1"/>
                </a:solidFill>
                <a:latin typeface="Calibri"/>
                <a:ea typeface="Calibri"/>
                <a:cs typeface="Calibri"/>
                <a:sym typeface="Calibri"/>
              </a:rPr>
              <a:pPr marL="0" marR="0" lvl="0" indent="0" algn="r" rtl="0">
                <a:spcBef>
                  <a:spcPts val="0"/>
                </a:spcBef>
                <a:spcAft>
                  <a:spcPts val="0"/>
                </a:spcAft>
                <a:buNone/>
              </a:pPr>
              <a:t>22</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3022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alphaModFix amt="48000"/>
            <a:lum/>
          </a:blip>
          <a:srcRect/>
          <a:stretch>
            <a:fillRect/>
          </a:stretch>
        </a:blip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hidden="1"/>
          <p:cNvPicPr preferRelativeResize="0"/>
          <p:nvPr/>
        </p:nvPicPr>
        <p:blipFill rotWithShape="1">
          <a:blip r:embed="rId3">
            <a:alphaModFix/>
          </a:blip>
          <a:srcRect b="58717"/>
          <a:stretch/>
        </p:blipFill>
        <p:spPr>
          <a:xfrm>
            <a:off x="1185" y="-216309"/>
            <a:ext cx="12190815" cy="2307706"/>
          </a:xfrm>
          <a:prstGeom prst="rect">
            <a:avLst/>
          </a:prstGeom>
          <a:noFill/>
          <a:ln>
            <a:noFill/>
          </a:ln>
        </p:spPr>
      </p:pic>
      <p:sp>
        <p:nvSpPr>
          <p:cNvPr id="8" name="Title 7">
            <a:extLst>
              <a:ext uri="{FF2B5EF4-FFF2-40B4-BE49-F238E27FC236}">
                <a16:creationId xmlns:a16="http://schemas.microsoft.com/office/drawing/2014/main" id="{BD764EA9-E3B5-CA38-08B7-17AECC588565}"/>
              </a:ext>
            </a:extLst>
          </p:cNvPr>
          <p:cNvSpPr>
            <a:spLocks noGrp="1"/>
          </p:cNvSpPr>
          <p:nvPr>
            <p:ph type="title"/>
          </p:nvPr>
        </p:nvSpPr>
        <p:spPr>
          <a:xfrm>
            <a:off x="2761488" y="2290762"/>
            <a:ext cx="6669024" cy="2276477"/>
          </a:xfrm>
        </p:spPr>
        <p:txBody>
          <a:bodyPr>
            <a:normAutofit/>
          </a:bodyPr>
          <a:lstStyle/>
          <a:p>
            <a:pPr algn="ctr"/>
            <a:r>
              <a:rPr lang="en-US" sz="3600" dirty="0">
                <a:latin typeface="Algerian" panose="04020705040A02060702" pitchFamily="82" charset="0"/>
              </a:rPr>
              <a:t>Grocery Store Inventory Management System</a:t>
            </a:r>
            <a:endParaRPr lang="en-US" sz="3600" b="1" dirty="0">
              <a:latin typeface="Algerian" panose="04020705040A02060702" pitchFamily="82" charset="0"/>
              <a:ea typeface="SimSun"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362CEF2B-0A45-BB0A-409D-DA9608A46A7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4000"/>
                    </a14:imgEffect>
                    <a14:imgEffect>
                      <a14:colorTemperature colorTemp="9831"/>
                    </a14:imgEffect>
                    <a14:imgEffect>
                      <a14:saturation sat="400000"/>
                    </a14:imgEffect>
                  </a14:imgLayer>
                </a14:imgProps>
              </a:ext>
            </a:extLst>
          </a:blip>
          <a:stretch>
            <a:fillRect/>
          </a:stretch>
        </p:blipFill>
        <p:spPr>
          <a:xfrm>
            <a:off x="78658" y="0"/>
            <a:ext cx="12192000" cy="22955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4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BE736-DAB5-6DCD-0E97-89275D302579}"/>
              </a:ext>
            </a:extLst>
          </p:cNvPr>
          <p:cNvSpPr>
            <a:spLocks noGrp="1"/>
          </p:cNvSpPr>
          <p:nvPr>
            <p:ph type="title"/>
          </p:nvPr>
        </p:nvSpPr>
        <p:spPr>
          <a:xfrm>
            <a:off x="831850" y="0"/>
            <a:ext cx="10515600" cy="1022555"/>
          </a:xfrm>
        </p:spPr>
        <p:txBody>
          <a:bodyPr>
            <a:normAutofit/>
          </a:bodyPr>
          <a:lstStyle/>
          <a:p>
            <a:pPr algn="ctr"/>
            <a:r>
              <a:rPr lang="en-IN" sz="5400" dirty="0">
                <a:latin typeface="Algerian" panose="04020705040A02060702" pitchFamily="82" charset="0"/>
              </a:rPr>
              <a:t>Introduction</a:t>
            </a:r>
          </a:p>
        </p:txBody>
      </p:sp>
      <p:sp>
        <p:nvSpPr>
          <p:cNvPr id="3" name="Text Placeholder 2">
            <a:extLst>
              <a:ext uri="{FF2B5EF4-FFF2-40B4-BE49-F238E27FC236}">
                <a16:creationId xmlns:a16="http://schemas.microsoft.com/office/drawing/2014/main" id="{B1600E0F-290A-C262-1A96-C2DB85FDB56E}"/>
              </a:ext>
            </a:extLst>
          </p:cNvPr>
          <p:cNvSpPr>
            <a:spLocks noGrp="1"/>
          </p:cNvSpPr>
          <p:nvPr>
            <p:ph type="body" idx="1"/>
          </p:nvPr>
        </p:nvSpPr>
        <p:spPr>
          <a:xfrm>
            <a:off x="1024931" y="1022555"/>
            <a:ext cx="11053187" cy="5408390"/>
          </a:xfrm>
        </p:spPr>
        <p:txBody>
          <a:bodyPr>
            <a:normAutofit fontScale="92500" lnSpcReduction="20000"/>
          </a:bodyPr>
          <a:lstStyle/>
          <a:p>
            <a:pPr marL="571500" indent="-342900">
              <a:lnSpc>
                <a:spcPct val="170000"/>
              </a:lnSpc>
              <a:buFont typeface="Wingdings" panose="05000000000000000000" pitchFamily="2" charset="2"/>
              <a:buChar char="§"/>
            </a:pPr>
            <a:r>
              <a:rPr lang="en-US" dirty="0">
                <a:solidFill>
                  <a:schemeClr val="tx1"/>
                </a:solidFill>
              </a:rPr>
              <a:t>   </a:t>
            </a:r>
            <a:r>
              <a:rPr lang="en-US" dirty="0">
                <a:solidFill>
                  <a:schemeClr val="tx1"/>
                </a:solidFill>
                <a:latin typeface="Baskerville Old Face" panose="02020602080505020303" pitchFamily="18" charset="0"/>
              </a:rPr>
              <a:t>The Grocery Store Management System automates daily store operations,                                                                ensuring smoother workflows and better efficiency.</a:t>
            </a:r>
          </a:p>
          <a:p>
            <a:pPr marL="571500" indent="-342900">
              <a:lnSpc>
                <a:spcPct val="170000"/>
              </a:lnSpc>
              <a:buFont typeface="Wingdings" panose="05000000000000000000" pitchFamily="2" charset="2"/>
              <a:buChar char="§"/>
            </a:pPr>
            <a:r>
              <a:rPr lang="en-US" dirty="0">
                <a:solidFill>
                  <a:schemeClr val="tx1"/>
                </a:solidFill>
                <a:latin typeface="Baskerville Old Face" panose="02020602080505020303" pitchFamily="18" charset="0"/>
              </a:rPr>
              <a:t>    It eliminates the need for manual record-keeping and reduces human errors.</a:t>
            </a:r>
          </a:p>
          <a:p>
            <a:pPr marL="571500" indent="-342900">
              <a:lnSpc>
                <a:spcPct val="170000"/>
              </a:lnSpc>
              <a:buFont typeface="Wingdings" panose="05000000000000000000" pitchFamily="2" charset="2"/>
              <a:buChar char="§"/>
            </a:pPr>
            <a:r>
              <a:rPr lang="en-US" dirty="0">
                <a:solidFill>
                  <a:schemeClr val="tx1"/>
                </a:solidFill>
                <a:latin typeface="Baskerville Old Face" panose="02020602080505020303" pitchFamily="18" charset="0"/>
              </a:rPr>
              <a:t>  The system manages product inventory, billing, and customer details in one integrated </a:t>
            </a:r>
            <a:r>
              <a:rPr lang="en-US" dirty="0" err="1">
                <a:solidFill>
                  <a:schemeClr val="tx1"/>
                </a:solidFill>
                <a:latin typeface="Baskerville Old Face" panose="02020602080505020303" pitchFamily="18" charset="0"/>
              </a:rPr>
              <a:t>platform.This</a:t>
            </a:r>
            <a:r>
              <a:rPr lang="en-US" dirty="0">
                <a:solidFill>
                  <a:schemeClr val="tx1"/>
                </a:solidFill>
                <a:latin typeface="Baskerville Old Face" panose="02020602080505020303" pitchFamily="18" charset="0"/>
              </a:rPr>
              <a:t> helps store owners maintain accurate and up-to-date records easily.</a:t>
            </a:r>
          </a:p>
          <a:p>
            <a:pPr marL="571500" indent="-342900">
              <a:lnSpc>
                <a:spcPct val="170000"/>
              </a:lnSpc>
              <a:buFont typeface="Wingdings" panose="05000000000000000000" pitchFamily="2" charset="2"/>
              <a:buChar char="§"/>
            </a:pPr>
            <a:r>
              <a:rPr lang="en-US" dirty="0">
                <a:solidFill>
                  <a:schemeClr val="tx1"/>
                </a:solidFill>
                <a:latin typeface="Baskerville Old Face" panose="02020602080505020303" pitchFamily="18" charset="0"/>
              </a:rPr>
              <a:t>   It streamlines the billing process by generating quick and accurate invoices for   </a:t>
            </a:r>
            <a:r>
              <a:rPr lang="en-US" dirty="0" err="1">
                <a:solidFill>
                  <a:schemeClr val="tx1"/>
                </a:solidFill>
                <a:latin typeface="Baskerville Old Face" panose="02020602080505020303" pitchFamily="18" charset="0"/>
              </a:rPr>
              <a:t>customers.This</a:t>
            </a:r>
            <a:r>
              <a:rPr lang="en-US" dirty="0">
                <a:solidFill>
                  <a:schemeClr val="tx1"/>
                </a:solidFill>
                <a:latin typeface="Baskerville Old Face" panose="02020602080505020303" pitchFamily="18" charset="0"/>
              </a:rPr>
              <a:t> not only saves time but also improves customer satisfaction.</a:t>
            </a:r>
          </a:p>
          <a:p>
            <a:pPr marL="571500" indent="-342900">
              <a:lnSpc>
                <a:spcPct val="170000"/>
              </a:lnSpc>
              <a:buFont typeface="Wingdings" panose="05000000000000000000" pitchFamily="2" charset="2"/>
              <a:buChar char="§"/>
            </a:pPr>
            <a:r>
              <a:rPr lang="en-US" dirty="0">
                <a:solidFill>
                  <a:schemeClr val="tx1"/>
                </a:solidFill>
                <a:latin typeface="Baskerville Old Face" panose="02020602080505020303" pitchFamily="18" charset="0"/>
              </a:rPr>
              <a:t>  The system provides real-time insights into stock levels, sales trends, and supplier data.</a:t>
            </a:r>
          </a:p>
          <a:p>
            <a:pPr marL="571500" indent="-342900">
              <a:lnSpc>
                <a:spcPct val="170000"/>
              </a:lnSpc>
              <a:buFont typeface="Wingdings" panose="05000000000000000000" pitchFamily="2" charset="2"/>
              <a:buChar char="§"/>
            </a:pPr>
            <a:r>
              <a:rPr lang="en-US" dirty="0">
                <a:solidFill>
                  <a:schemeClr val="tx1"/>
                </a:solidFill>
                <a:latin typeface="Baskerville Old Face" panose="02020602080505020303" pitchFamily="18" charset="0"/>
              </a:rPr>
              <a:t>  The goal is to enhance overall productivity and operational transparency.</a:t>
            </a:r>
            <a:endParaRPr lang="en-IN" dirty="0">
              <a:solidFill>
                <a:schemeClr val="tx1"/>
              </a:solidFill>
              <a:latin typeface="Baskerville Old Face" panose="02020602080505020303" pitchFamily="18" charset="0"/>
            </a:endParaRPr>
          </a:p>
        </p:txBody>
      </p:sp>
    </p:spTree>
    <p:extLst>
      <p:ext uri="{BB962C8B-B14F-4D97-AF65-F5344CB8AC3E}">
        <p14:creationId xmlns:p14="http://schemas.microsoft.com/office/powerpoint/2010/main" val="2691919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3039048-2BB1-B8DE-73A4-B6B4D261074F}"/>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7F27B965-F5EF-41BD-E8E5-9EB135EF4DA3}"/>
              </a:ext>
            </a:extLst>
          </p:cNvPr>
          <p:cNvSpPr txBox="1"/>
          <p:nvPr/>
        </p:nvSpPr>
        <p:spPr>
          <a:xfrm>
            <a:off x="934064" y="471948"/>
            <a:ext cx="10585752" cy="923289"/>
          </a:xfrm>
          <a:prstGeom prst="rect">
            <a:avLst/>
          </a:prstGeom>
          <a:noFill/>
          <a:ln>
            <a:noFill/>
          </a:ln>
        </p:spPr>
        <p:txBody>
          <a:bodyPr spcFirstLastPara="1" wrap="square" lIns="91425" tIns="45700" rIns="91425" bIns="45700" anchor="t" anchorCtr="0">
            <a:spAutoFit/>
          </a:bodyPr>
          <a:lstStyle/>
          <a:p>
            <a:pPr lvl="0" algn="ctr">
              <a:buClr>
                <a:schemeClr val="dk1"/>
              </a:buClr>
              <a:buSzPts val="1800"/>
            </a:pPr>
            <a:r>
              <a:rPr lang="en-US" sz="3600" dirty="0">
                <a:solidFill>
                  <a:schemeClr val="tx1"/>
                </a:solidFill>
                <a:latin typeface="Algerian" panose="04020705040A02060702" pitchFamily="82" charset="0"/>
                <a:ea typeface="Calibri" panose="020F0502020204030204" pitchFamily="34" charset="0"/>
                <a:cs typeface="Calibri" panose="020F0502020204030204" pitchFamily="34" charset="0"/>
                <a:sym typeface="Calibri"/>
              </a:rPr>
              <a:t>Tables</a:t>
            </a:r>
            <a:r>
              <a:rPr lang="en-US" sz="2800" dirty="0">
                <a:solidFill>
                  <a:schemeClr val="tx1"/>
                </a:solidFill>
                <a:latin typeface="Bell MT" panose="02020503060305020303" pitchFamily="18" charset="0"/>
                <a:ea typeface="Calibri" panose="020F0502020204030204" pitchFamily="34" charset="0"/>
                <a:cs typeface="Calibri" panose="020F0502020204030204" pitchFamily="34" charset="0"/>
                <a:sym typeface="Calibri"/>
              </a:rPr>
              <a:t> </a:t>
            </a:r>
          </a:p>
          <a:p>
            <a:pPr lvl="0" algn="just">
              <a:buClr>
                <a:schemeClr val="dk1"/>
              </a:buClr>
              <a:buSzPts val="1800"/>
            </a:pPr>
            <a:endParaRPr lang="en-IN" sz="1800"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 name="TextBox 5">
            <a:extLst>
              <a:ext uri="{FF2B5EF4-FFF2-40B4-BE49-F238E27FC236}">
                <a16:creationId xmlns:a16="http://schemas.microsoft.com/office/drawing/2014/main" id="{FC0F19AE-C410-58A9-900B-1D9AF753708D}"/>
              </a:ext>
            </a:extLst>
          </p:cNvPr>
          <p:cNvSpPr txBox="1"/>
          <p:nvPr/>
        </p:nvSpPr>
        <p:spPr>
          <a:xfrm>
            <a:off x="934064" y="4232488"/>
            <a:ext cx="10087897" cy="523220"/>
          </a:xfrm>
          <a:prstGeom prst="rect">
            <a:avLst/>
          </a:prstGeom>
          <a:noFill/>
        </p:spPr>
        <p:txBody>
          <a:bodyPr wrap="square" rtlCol="0">
            <a:spAutoFit/>
          </a:bodyPr>
          <a:lstStyle/>
          <a:p>
            <a:r>
              <a:rPr lang="en-US" sz="2800" dirty="0">
                <a:latin typeface="Bell MT" panose="02020503060305020303" pitchFamily="18" charset="0"/>
              </a:rPr>
              <a:t>.</a:t>
            </a:r>
            <a:endParaRPr lang="en-IN" sz="2800" dirty="0">
              <a:latin typeface="Bell MT" panose="02020503060305020303" pitchFamily="18" charset="0"/>
            </a:endParaRPr>
          </a:p>
        </p:txBody>
      </p:sp>
      <p:sp>
        <p:nvSpPr>
          <p:cNvPr id="7" name="TextBox 6">
            <a:extLst>
              <a:ext uri="{FF2B5EF4-FFF2-40B4-BE49-F238E27FC236}">
                <a16:creationId xmlns:a16="http://schemas.microsoft.com/office/drawing/2014/main" id="{12829D82-5DD1-AED4-3035-3BFFD452865C}"/>
              </a:ext>
            </a:extLst>
          </p:cNvPr>
          <p:cNvSpPr txBox="1"/>
          <p:nvPr/>
        </p:nvSpPr>
        <p:spPr>
          <a:xfrm>
            <a:off x="248978" y="1442656"/>
            <a:ext cx="4467849" cy="523220"/>
          </a:xfrm>
          <a:prstGeom prst="rect">
            <a:avLst/>
          </a:prstGeom>
          <a:noFill/>
        </p:spPr>
        <p:txBody>
          <a:bodyPr wrap="square" rtlCol="0">
            <a:spAutoFit/>
          </a:bodyPr>
          <a:lstStyle/>
          <a:p>
            <a:r>
              <a:rPr lang="en-IN" sz="2800" dirty="0">
                <a:latin typeface="Algerian" panose="04020705040A02060702" pitchFamily="82" charset="0"/>
              </a:rPr>
              <a:t>Suppliers Table</a:t>
            </a:r>
          </a:p>
        </p:txBody>
      </p:sp>
      <p:sp>
        <p:nvSpPr>
          <p:cNvPr id="10" name="TextBox 9">
            <a:extLst>
              <a:ext uri="{FF2B5EF4-FFF2-40B4-BE49-F238E27FC236}">
                <a16:creationId xmlns:a16="http://schemas.microsoft.com/office/drawing/2014/main" id="{84F6EE7B-9EAE-7735-FE31-111C3A994213}"/>
              </a:ext>
            </a:extLst>
          </p:cNvPr>
          <p:cNvSpPr txBox="1"/>
          <p:nvPr/>
        </p:nvSpPr>
        <p:spPr>
          <a:xfrm>
            <a:off x="6294596" y="1399718"/>
            <a:ext cx="4054893" cy="461665"/>
          </a:xfrm>
          <a:prstGeom prst="rect">
            <a:avLst/>
          </a:prstGeom>
          <a:noFill/>
        </p:spPr>
        <p:txBody>
          <a:bodyPr wrap="square" rtlCol="0">
            <a:spAutoFit/>
          </a:bodyPr>
          <a:lstStyle/>
          <a:p>
            <a:r>
              <a:rPr lang="en-IN" sz="2400" dirty="0">
                <a:latin typeface="Algerian" panose="04020705040A02060702" pitchFamily="82" charset="0"/>
              </a:rPr>
              <a:t>Products Table</a:t>
            </a:r>
          </a:p>
        </p:txBody>
      </p:sp>
      <p:sp>
        <p:nvSpPr>
          <p:cNvPr id="13" name="TextBox 12">
            <a:extLst>
              <a:ext uri="{FF2B5EF4-FFF2-40B4-BE49-F238E27FC236}">
                <a16:creationId xmlns:a16="http://schemas.microsoft.com/office/drawing/2014/main" id="{AFBD5D06-2FBC-AE2E-58D7-F3FFC0F149F0}"/>
              </a:ext>
            </a:extLst>
          </p:cNvPr>
          <p:cNvSpPr txBox="1"/>
          <p:nvPr/>
        </p:nvSpPr>
        <p:spPr>
          <a:xfrm>
            <a:off x="438447" y="3839576"/>
            <a:ext cx="3024332" cy="461665"/>
          </a:xfrm>
          <a:prstGeom prst="rect">
            <a:avLst/>
          </a:prstGeom>
          <a:noFill/>
        </p:spPr>
        <p:txBody>
          <a:bodyPr wrap="square" rtlCol="0">
            <a:spAutoFit/>
          </a:bodyPr>
          <a:lstStyle/>
          <a:p>
            <a:r>
              <a:rPr lang="en-IN" sz="2400" dirty="0">
                <a:latin typeface="Algerian" panose="04020705040A02060702" pitchFamily="82" charset="0"/>
              </a:rPr>
              <a:t>Employees Table</a:t>
            </a:r>
          </a:p>
        </p:txBody>
      </p:sp>
      <p:sp>
        <p:nvSpPr>
          <p:cNvPr id="17" name="TextBox 16">
            <a:extLst>
              <a:ext uri="{FF2B5EF4-FFF2-40B4-BE49-F238E27FC236}">
                <a16:creationId xmlns:a16="http://schemas.microsoft.com/office/drawing/2014/main" id="{72B312FD-4F4A-72BE-E6F9-A04DE3BEA1CF}"/>
              </a:ext>
            </a:extLst>
          </p:cNvPr>
          <p:cNvSpPr txBox="1"/>
          <p:nvPr/>
        </p:nvSpPr>
        <p:spPr>
          <a:xfrm>
            <a:off x="6294596" y="3941423"/>
            <a:ext cx="4235876" cy="461665"/>
          </a:xfrm>
          <a:prstGeom prst="rect">
            <a:avLst/>
          </a:prstGeom>
          <a:noFill/>
        </p:spPr>
        <p:txBody>
          <a:bodyPr wrap="square" rtlCol="0">
            <a:spAutoFit/>
          </a:bodyPr>
          <a:lstStyle/>
          <a:p>
            <a:r>
              <a:rPr lang="en-IN" sz="2400" dirty="0">
                <a:latin typeface="Algerian" panose="04020705040A02060702" pitchFamily="82" charset="0"/>
              </a:rPr>
              <a:t>Customers Table</a:t>
            </a:r>
          </a:p>
        </p:txBody>
      </p:sp>
      <p:pic>
        <p:nvPicPr>
          <p:cNvPr id="19" name="Picture 18">
            <a:extLst>
              <a:ext uri="{FF2B5EF4-FFF2-40B4-BE49-F238E27FC236}">
                <a16:creationId xmlns:a16="http://schemas.microsoft.com/office/drawing/2014/main" id="{11D93F18-381F-4F6F-FAEA-740F47F5A688}"/>
              </a:ext>
            </a:extLst>
          </p:cNvPr>
          <p:cNvPicPr>
            <a:picLocks noChangeAspect="1"/>
          </p:cNvPicPr>
          <p:nvPr/>
        </p:nvPicPr>
        <p:blipFill>
          <a:blip r:embed="rId3"/>
          <a:stretch>
            <a:fillRect/>
          </a:stretch>
        </p:blipFill>
        <p:spPr>
          <a:xfrm>
            <a:off x="309971" y="2212087"/>
            <a:ext cx="3926219" cy="1119668"/>
          </a:xfrm>
          <a:prstGeom prst="rect">
            <a:avLst/>
          </a:prstGeom>
        </p:spPr>
      </p:pic>
      <p:pic>
        <p:nvPicPr>
          <p:cNvPr id="21" name="Picture 20">
            <a:extLst>
              <a:ext uri="{FF2B5EF4-FFF2-40B4-BE49-F238E27FC236}">
                <a16:creationId xmlns:a16="http://schemas.microsoft.com/office/drawing/2014/main" id="{A75A4314-9070-C404-BA5A-B67C03F6E9A0}"/>
              </a:ext>
            </a:extLst>
          </p:cNvPr>
          <p:cNvPicPr>
            <a:picLocks noChangeAspect="1"/>
          </p:cNvPicPr>
          <p:nvPr/>
        </p:nvPicPr>
        <p:blipFill>
          <a:blip r:embed="rId4"/>
          <a:stretch>
            <a:fillRect/>
          </a:stretch>
        </p:blipFill>
        <p:spPr>
          <a:xfrm>
            <a:off x="5978012" y="2011758"/>
            <a:ext cx="4916090" cy="1520325"/>
          </a:xfrm>
          <a:prstGeom prst="rect">
            <a:avLst/>
          </a:prstGeom>
        </p:spPr>
      </p:pic>
      <p:pic>
        <p:nvPicPr>
          <p:cNvPr id="23" name="Picture 22">
            <a:extLst>
              <a:ext uri="{FF2B5EF4-FFF2-40B4-BE49-F238E27FC236}">
                <a16:creationId xmlns:a16="http://schemas.microsoft.com/office/drawing/2014/main" id="{9254454C-518F-FFCD-9B58-CF13A93DE71F}"/>
              </a:ext>
            </a:extLst>
          </p:cNvPr>
          <p:cNvPicPr>
            <a:picLocks noChangeAspect="1"/>
          </p:cNvPicPr>
          <p:nvPr/>
        </p:nvPicPr>
        <p:blipFill>
          <a:blip r:embed="rId5"/>
          <a:stretch>
            <a:fillRect/>
          </a:stretch>
        </p:blipFill>
        <p:spPr>
          <a:xfrm>
            <a:off x="248978" y="4599544"/>
            <a:ext cx="4826861" cy="1056897"/>
          </a:xfrm>
          <a:prstGeom prst="rect">
            <a:avLst/>
          </a:prstGeom>
        </p:spPr>
      </p:pic>
      <p:pic>
        <p:nvPicPr>
          <p:cNvPr id="25" name="Picture 24">
            <a:extLst>
              <a:ext uri="{FF2B5EF4-FFF2-40B4-BE49-F238E27FC236}">
                <a16:creationId xmlns:a16="http://schemas.microsoft.com/office/drawing/2014/main" id="{847EEC64-532C-B738-3BD5-5997DFC65C7F}"/>
              </a:ext>
            </a:extLst>
          </p:cNvPr>
          <p:cNvPicPr>
            <a:picLocks noChangeAspect="1"/>
          </p:cNvPicPr>
          <p:nvPr/>
        </p:nvPicPr>
        <p:blipFill>
          <a:blip r:embed="rId6"/>
          <a:stretch>
            <a:fillRect/>
          </a:stretch>
        </p:blipFill>
        <p:spPr>
          <a:xfrm>
            <a:off x="5978012" y="4599544"/>
            <a:ext cx="5208758" cy="1166858"/>
          </a:xfrm>
          <a:prstGeom prst="rect">
            <a:avLst/>
          </a:prstGeom>
        </p:spPr>
      </p:pic>
    </p:spTree>
    <p:extLst>
      <p:ext uri="{BB962C8B-B14F-4D97-AF65-F5344CB8AC3E}">
        <p14:creationId xmlns:p14="http://schemas.microsoft.com/office/powerpoint/2010/main" val="2458252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73B620F-EFF8-ACFB-F34F-90C977AB5B83}"/>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1FC2D152-4902-20DB-01D6-6053C542B2C7}"/>
              </a:ext>
            </a:extLst>
          </p:cNvPr>
          <p:cNvSpPr txBox="1"/>
          <p:nvPr/>
        </p:nvSpPr>
        <p:spPr>
          <a:xfrm>
            <a:off x="934065" y="963561"/>
            <a:ext cx="10585752" cy="800179"/>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endParaRPr lang="en-US" sz="2800" dirty="0">
              <a:solidFill>
                <a:schemeClr val="tx1"/>
              </a:solidFill>
              <a:latin typeface="Bell MT" panose="02020503060305020303" pitchFamily="18" charset="0"/>
              <a:ea typeface="Calibri" panose="020F0502020204030204" pitchFamily="34" charset="0"/>
              <a:cs typeface="Calibri" panose="020F0502020204030204" pitchFamily="34" charset="0"/>
              <a:sym typeface="Calibri"/>
            </a:endParaRPr>
          </a:p>
          <a:p>
            <a:pPr lvl="0" algn="just">
              <a:buClr>
                <a:schemeClr val="dk1"/>
              </a:buClr>
              <a:buSzPts val="1800"/>
            </a:pPr>
            <a:endParaRPr lang="en-IN" sz="1800"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 name="TextBox 5">
            <a:extLst>
              <a:ext uri="{FF2B5EF4-FFF2-40B4-BE49-F238E27FC236}">
                <a16:creationId xmlns:a16="http://schemas.microsoft.com/office/drawing/2014/main" id="{C985D193-3C2F-8D03-1D54-D9921F6DA771}"/>
              </a:ext>
            </a:extLst>
          </p:cNvPr>
          <p:cNvSpPr txBox="1"/>
          <p:nvPr/>
        </p:nvSpPr>
        <p:spPr>
          <a:xfrm>
            <a:off x="934064" y="4232488"/>
            <a:ext cx="10087897" cy="523220"/>
          </a:xfrm>
          <a:prstGeom prst="rect">
            <a:avLst/>
          </a:prstGeom>
          <a:noFill/>
        </p:spPr>
        <p:txBody>
          <a:bodyPr wrap="square" rtlCol="0">
            <a:spAutoFit/>
          </a:bodyPr>
          <a:lstStyle/>
          <a:p>
            <a:r>
              <a:rPr lang="en-US" sz="2800" dirty="0">
                <a:latin typeface="Bell MT" panose="02020503060305020303" pitchFamily="18" charset="0"/>
              </a:rPr>
              <a:t>.</a:t>
            </a:r>
            <a:endParaRPr lang="en-IN" sz="2800" dirty="0">
              <a:latin typeface="Bell MT" panose="02020503060305020303" pitchFamily="18" charset="0"/>
            </a:endParaRPr>
          </a:p>
        </p:txBody>
      </p:sp>
      <p:pic>
        <p:nvPicPr>
          <p:cNvPr id="5" name="Picture 4">
            <a:extLst>
              <a:ext uri="{FF2B5EF4-FFF2-40B4-BE49-F238E27FC236}">
                <a16:creationId xmlns:a16="http://schemas.microsoft.com/office/drawing/2014/main" id="{F0837CE0-1517-1302-74DC-B9134380D41D}"/>
              </a:ext>
            </a:extLst>
          </p:cNvPr>
          <p:cNvPicPr>
            <a:picLocks noChangeAspect="1"/>
          </p:cNvPicPr>
          <p:nvPr/>
        </p:nvPicPr>
        <p:blipFill>
          <a:blip r:embed="rId3"/>
          <a:stretch>
            <a:fillRect/>
          </a:stretch>
        </p:blipFill>
        <p:spPr>
          <a:xfrm>
            <a:off x="521191" y="1106724"/>
            <a:ext cx="4491798" cy="1675805"/>
          </a:xfrm>
          <a:prstGeom prst="rect">
            <a:avLst/>
          </a:prstGeom>
        </p:spPr>
      </p:pic>
      <p:sp>
        <p:nvSpPr>
          <p:cNvPr id="7" name="TextBox 6">
            <a:extLst>
              <a:ext uri="{FF2B5EF4-FFF2-40B4-BE49-F238E27FC236}">
                <a16:creationId xmlns:a16="http://schemas.microsoft.com/office/drawing/2014/main" id="{E6A1EBCC-1C13-6301-8222-320853EF3FD2}"/>
              </a:ext>
            </a:extLst>
          </p:cNvPr>
          <p:cNvSpPr txBox="1"/>
          <p:nvPr/>
        </p:nvSpPr>
        <p:spPr>
          <a:xfrm>
            <a:off x="658761" y="462116"/>
            <a:ext cx="3893574" cy="461665"/>
          </a:xfrm>
          <a:prstGeom prst="rect">
            <a:avLst/>
          </a:prstGeom>
          <a:noFill/>
        </p:spPr>
        <p:txBody>
          <a:bodyPr wrap="square" rtlCol="0">
            <a:spAutoFit/>
          </a:bodyPr>
          <a:lstStyle/>
          <a:p>
            <a:r>
              <a:rPr lang="en-IN" sz="2400" dirty="0" err="1">
                <a:latin typeface="Algerian" panose="04020705040A02060702" pitchFamily="82" charset="0"/>
              </a:rPr>
              <a:t>Order_details</a:t>
            </a:r>
            <a:r>
              <a:rPr lang="en-IN" sz="2400" dirty="0">
                <a:latin typeface="Algerian" panose="04020705040A02060702" pitchFamily="82" charset="0"/>
              </a:rPr>
              <a:t> Table</a:t>
            </a:r>
          </a:p>
        </p:txBody>
      </p:sp>
      <p:pic>
        <p:nvPicPr>
          <p:cNvPr id="9" name="Picture 8">
            <a:extLst>
              <a:ext uri="{FF2B5EF4-FFF2-40B4-BE49-F238E27FC236}">
                <a16:creationId xmlns:a16="http://schemas.microsoft.com/office/drawing/2014/main" id="{EF76E2F3-6231-91DD-B3E0-020A8F169A7D}"/>
              </a:ext>
            </a:extLst>
          </p:cNvPr>
          <p:cNvPicPr>
            <a:picLocks noChangeAspect="1"/>
          </p:cNvPicPr>
          <p:nvPr/>
        </p:nvPicPr>
        <p:blipFill>
          <a:blip r:embed="rId4"/>
          <a:stretch>
            <a:fillRect/>
          </a:stretch>
        </p:blipFill>
        <p:spPr>
          <a:xfrm>
            <a:off x="6459793" y="1207458"/>
            <a:ext cx="4726757" cy="1575071"/>
          </a:xfrm>
          <a:prstGeom prst="rect">
            <a:avLst/>
          </a:prstGeom>
        </p:spPr>
      </p:pic>
      <p:sp>
        <p:nvSpPr>
          <p:cNvPr id="10" name="TextBox 9">
            <a:extLst>
              <a:ext uri="{FF2B5EF4-FFF2-40B4-BE49-F238E27FC236}">
                <a16:creationId xmlns:a16="http://schemas.microsoft.com/office/drawing/2014/main" id="{E54A579B-57AB-8BC2-4714-8A5BA49E1478}"/>
              </a:ext>
            </a:extLst>
          </p:cNvPr>
          <p:cNvSpPr txBox="1"/>
          <p:nvPr/>
        </p:nvSpPr>
        <p:spPr>
          <a:xfrm>
            <a:off x="7177549" y="501896"/>
            <a:ext cx="3687097" cy="461665"/>
          </a:xfrm>
          <a:prstGeom prst="rect">
            <a:avLst/>
          </a:prstGeom>
          <a:noFill/>
        </p:spPr>
        <p:txBody>
          <a:bodyPr wrap="square" rtlCol="0">
            <a:spAutoFit/>
          </a:bodyPr>
          <a:lstStyle/>
          <a:p>
            <a:r>
              <a:rPr lang="en-IN" sz="2400" dirty="0">
                <a:latin typeface="Algerian" panose="04020705040A02060702" pitchFamily="82" charset="0"/>
              </a:rPr>
              <a:t>Orders Table</a:t>
            </a:r>
          </a:p>
        </p:txBody>
      </p:sp>
      <p:pic>
        <p:nvPicPr>
          <p:cNvPr id="12" name="Picture 11">
            <a:extLst>
              <a:ext uri="{FF2B5EF4-FFF2-40B4-BE49-F238E27FC236}">
                <a16:creationId xmlns:a16="http://schemas.microsoft.com/office/drawing/2014/main" id="{CEEE0132-1300-F7F5-71AB-2C58F24D5210}"/>
              </a:ext>
            </a:extLst>
          </p:cNvPr>
          <p:cNvPicPr>
            <a:picLocks noChangeAspect="1"/>
          </p:cNvPicPr>
          <p:nvPr/>
        </p:nvPicPr>
        <p:blipFill>
          <a:blip r:embed="rId5"/>
          <a:stretch>
            <a:fillRect/>
          </a:stretch>
        </p:blipFill>
        <p:spPr>
          <a:xfrm>
            <a:off x="2767090" y="4879233"/>
            <a:ext cx="6037893" cy="978362"/>
          </a:xfrm>
          <a:prstGeom prst="rect">
            <a:avLst/>
          </a:prstGeom>
        </p:spPr>
      </p:pic>
      <p:sp>
        <p:nvSpPr>
          <p:cNvPr id="13" name="TextBox 12">
            <a:extLst>
              <a:ext uri="{FF2B5EF4-FFF2-40B4-BE49-F238E27FC236}">
                <a16:creationId xmlns:a16="http://schemas.microsoft.com/office/drawing/2014/main" id="{29223172-6C7D-94E1-4EDE-385DD54E154F}"/>
              </a:ext>
            </a:extLst>
          </p:cNvPr>
          <p:cNvSpPr txBox="1"/>
          <p:nvPr/>
        </p:nvSpPr>
        <p:spPr>
          <a:xfrm>
            <a:off x="4090220" y="4124973"/>
            <a:ext cx="5358580" cy="461665"/>
          </a:xfrm>
          <a:prstGeom prst="rect">
            <a:avLst/>
          </a:prstGeom>
          <a:noFill/>
        </p:spPr>
        <p:txBody>
          <a:bodyPr wrap="square" rtlCol="0">
            <a:spAutoFit/>
          </a:bodyPr>
          <a:lstStyle/>
          <a:p>
            <a:r>
              <a:rPr lang="en-IN" sz="2400" dirty="0">
                <a:latin typeface="Algerian" panose="04020705040A02060702" pitchFamily="82" charset="0"/>
              </a:rPr>
              <a:t>Categories Table</a:t>
            </a:r>
          </a:p>
        </p:txBody>
      </p:sp>
    </p:spTree>
    <p:extLst>
      <p:ext uri="{BB962C8B-B14F-4D97-AF65-F5344CB8AC3E}">
        <p14:creationId xmlns:p14="http://schemas.microsoft.com/office/powerpoint/2010/main" val="104338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D95BA4B-134D-AEDA-668E-535D97780593}"/>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85D64225-965A-0933-D88E-E03C91FC06AF}"/>
              </a:ext>
            </a:extLst>
          </p:cNvPr>
          <p:cNvSpPr txBox="1"/>
          <p:nvPr/>
        </p:nvSpPr>
        <p:spPr>
          <a:xfrm>
            <a:off x="934065" y="963561"/>
            <a:ext cx="10585752" cy="800179"/>
          </a:xfrm>
          <a:prstGeom prst="rect">
            <a:avLst/>
          </a:prstGeom>
          <a:noFill/>
          <a:ln>
            <a:noFill/>
          </a:ln>
        </p:spPr>
        <p:txBody>
          <a:bodyPr spcFirstLastPara="1" wrap="square" lIns="91425" tIns="45700" rIns="91425" bIns="45700" anchor="t" anchorCtr="0">
            <a:spAutoFit/>
          </a:bodyPr>
          <a:lstStyle/>
          <a:p>
            <a:pPr lvl="0" algn="just">
              <a:buClr>
                <a:schemeClr val="dk1"/>
              </a:buClr>
              <a:buSzPts val="1800"/>
            </a:pPr>
            <a:endParaRPr lang="en-US" sz="2800" dirty="0">
              <a:solidFill>
                <a:schemeClr val="tx1"/>
              </a:solidFill>
              <a:latin typeface="Bell MT" panose="02020503060305020303" pitchFamily="18" charset="0"/>
              <a:ea typeface="Calibri" panose="020F0502020204030204" pitchFamily="34" charset="0"/>
              <a:cs typeface="Calibri" panose="020F0502020204030204" pitchFamily="34" charset="0"/>
              <a:sym typeface="Calibri"/>
            </a:endParaRPr>
          </a:p>
          <a:p>
            <a:pPr lvl="0" algn="just">
              <a:buClr>
                <a:schemeClr val="dk1"/>
              </a:buClr>
              <a:buSzPts val="1800"/>
            </a:pPr>
            <a:endParaRPr lang="en-IN" sz="1800"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 name="TextBox 5">
            <a:extLst>
              <a:ext uri="{FF2B5EF4-FFF2-40B4-BE49-F238E27FC236}">
                <a16:creationId xmlns:a16="http://schemas.microsoft.com/office/drawing/2014/main" id="{6300C134-7248-048B-8F0F-CED7F7797BA1}"/>
              </a:ext>
            </a:extLst>
          </p:cNvPr>
          <p:cNvSpPr txBox="1"/>
          <p:nvPr/>
        </p:nvSpPr>
        <p:spPr>
          <a:xfrm>
            <a:off x="934064" y="4232488"/>
            <a:ext cx="10087897" cy="523220"/>
          </a:xfrm>
          <a:prstGeom prst="rect">
            <a:avLst/>
          </a:prstGeom>
          <a:noFill/>
        </p:spPr>
        <p:txBody>
          <a:bodyPr wrap="square" rtlCol="0">
            <a:spAutoFit/>
          </a:bodyPr>
          <a:lstStyle/>
          <a:p>
            <a:r>
              <a:rPr lang="en-US" sz="2800" dirty="0">
                <a:latin typeface="Bell MT" panose="02020503060305020303" pitchFamily="18" charset="0"/>
              </a:rPr>
              <a:t>.</a:t>
            </a:r>
            <a:endParaRPr lang="en-IN" sz="2800" dirty="0">
              <a:latin typeface="Bell MT" panose="02020503060305020303" pitchFamily="18" charset="0"/>
            </a:endParaRPr>
          </a:p>
        </p:txBody>
      </p:sp>
      <p:pic>
        <p:nvPicPr>
          <p:cNvPr id="3" name="Picture 2">
            <a:extLst>
              <a:ext uri="{FF2B5EF4-FFF2-40B4-BE49-F238E27FC236}">
                <a16:creationId xmlns:a16="http://schemas.microsoft.com/office/drawing/2014/main" id="{57702AD5-A40E-3F81-C807-6610BDC08D30}"/>
              </a:ext>
            </a:extLst>
          </p:cNvPr>
          <p:cNvPicPr>
            <a:picLocks noChangeAspect="1"/>
          </p:cNvPicPr>
          <p:nvPr/>
        </p:nvPicPr>
        <p:blipFill>
          <a:blip r:embed="rId3"/>
          <a:stretch>
            <a:fillRect/>
          </a:stretch>
        </p:blipFill>
        <p:spPr>
          <a:xfrm>
            <a:off x="1524000" y="800938"/>
            <a:ext cx="8981613" cy="5472043"/>
          </a:xfrm>
          <a:prstGeom prst="rect">
            <a:avLst/>
          </a:prstGeom>
        </p:spPr>
      </p:pic>
      <p:sp>
        <p:nvSpPr>
          <p:cNvPr id="4" name="TextBox 3">
            <a:extLst>
              <a:ext uri="{FF2B5EF4-FFF2-40B4-BE49-F238E27FC236}">
                <a16:creationId xmlns:a16="http://schemas.microsoft.com/office/drawing/2014/main" id="{DE404F4E-27C6-EA85-1FD4-F1846584BC4E}"/>
              </a:ext>
            </a:extLst>
          </p:cNvPr>
          <p:cNvSpPr txBox="1"/>
          <p:nvPr/>
        </p:nvSpPr>
        <p:spPr>
          <a:xfrm>
            <a:off x="4650658" y="78658"/>
            <a:ext cx="2890684" cy="461665"/>
          </a:xfrm>
          <a:prstGeom prst="rect">
            <a:avLst/>
          </a:prstGeom>
          <a:noFill/>
        </p:spPr>
        <p:txBody>
          <a:bodyPr wrap="square" rtlCol="0">
            <a:spAutoFit/>
          </a:bodyPr>
          <a:lstStyle/>
          <a:p>
            <a:r>
              <a:rPr lang="en-IN" sz="2400" dirty="0">
                <a:latin typeface="Algerian" panose="04020705040A02060702" pitchFamily="82" charset="0"/>
              </a:rPr>
              <a:t>ER Diagram</a:t>
            </a:r>
          </a:p>
        </p:txBody>
      </p:sp>
    </p:spTree>
    <p:extLst>
      <p:ext uri="{BB962C8B-B14F-4D97-AF65-F5344CB8AC3E}">
        <p14:creationId xmlns:p14="http://schemas.microsoft.com/office/powerpoint/2010/main" val="2963604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34936-3D16-2025-AA0A-9D12F883C5BB}"/>
              </a:ext>
            </a:extLst>
          </p:cNvPr>
          <p:cNvSpPr>
            <a:spLocks noGrp="1"/>
          </p:cNvSpPr>
          <p:nvPr>
            <p:ph type="title"/>
          </p:nvPr>
        </p:nvSpPr>
        <p:spPr>
          <a:xfrm>
            <a:off x="934065" y="548053"/>
            <a:ext cx="10691556" cy="4365830"/>
          </a:xfrm>
        </p:spPr>
        <p:txBody>
          <a:bodyPr>
            <a:noAutofit/>
          </a:bodyPr>
          <a:lstStyle/>
          <a:p>
            <a:r>
              <a:rPr lang="en-US" sz="2800" dirty="0">
                <a:latin typeface="Baskerville Old Face" panose="02020602080505020303" pitchFamily="18" charset="0"/>
              </a:rPr>
              <a:t>In the dynamic environment of a retail grocery store, managing and analyzing large volumes of data related to products, suppliers, customers, and orders is crucial for efficient operations and informed decision-making. This project aims to design and implement a relational database system that captures essential store activities and enables users to retrieve and analyze data through SQL. The system will support complex queries to identify key business insights such as top-performing products, high-value customers, and revenue patterns, while reinforcing practical SQL skills including joins, aggregations, subqueries, and filtering.</a:t>
            </a:r>
            <a:endParaRPr lang="en-IN" sz="2800" dirty="0">
              <a:latin typeface="Baskerville Old Face" panose="02020602080505020303" pitchFamily="18" charset="0"/>
            </a:endParaRPr>
          </a:p>
        </p:txBody>
      </p:sp>
      <p:sp>
        <p:nvSpPr>
          <p:cNvPr id="4" name="TextBox 3">
            <a:extLst>
              <a:ext uri="{FF2B5EF4-FFF2-40B4-BE49-F238E27FC236}">
                <a16:creationId xmlns:a16="http://schemas.microsoft.com/office/drawing/2014/main" id="{9D845855-55C5-D63D-DAAF-061C42A311C2}"/>
              </a:ext>
            </a:extLst>
          </p:cNvPr>
          <p:cNvSpPr txBox="1"/>
          <p:nvPr/>
        </p:nvSpPr>
        <p:spPr>
          <a:xfrm>
            <a:off x="3302205" y="226141"/>
            <a:ext cx="5574890" cy="646331"/>
          </a:xfrm>
          <a:prstGeom prst="rect">
            <a:avLst/>
          </a:prstGeom>
          <a:noFill/>
        </p:spPr>
        <p:txBody>
          <a:bodyPr wrap="square" rtlCol="0">
            <a:spAutoFit/>
          </a:bodyPr>
          <a:lstStyle/>
          <a:p>
            <a:r>
              <a:rPr lang="en-IN" sz="3600" dirty="0">
                <a:latin typeface="Algerian" panose="04020705040A02060702" pitchFamily="82" charset="0"/>
              </a:rPr>
              <a:t>Problem Statement</a:t>
            </a:r>
          </a:p>
        </p:txBody>
      </p:sp>
    </p:spTree>
    <p:extLst>
      <p:ext uri="{BB962C8B-B14F-4D97-AF65-F5344CB8AC3E}">
        <p14:creationId xmlns:p14="http://schemas.microsoft.com/office/powerpoint/2010/main" val="72201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1E1B7-86F8-1BEB-434E-69518C645F83}"/>
              </a:ext>
            </a:extLst>
          </p:cNvPr>
          <p:cNvSpPr>
            <a:spLocks noGrp="1"/>
          </p:cNvSpPr>
          <p:nvPr>
            <p:ph type="title"/>
          </p:nvPr>
        </p:nvSpPr>
        <p:spPr>
          <a:xfrm>
            <a:off x="222250" y="294967"/>
            <a:ext cx="10515600" cy="698398"/>
          </a:xfrm>
        </p:spPr>
        <p:txBody>
          <a:bodyPr>
            <a:normAutofit/>
          </a:bodyPr>
          <a:lstStyle/>
          <a:p>
            <a:r>
              <a:rPr lang="en-US" sz="3600" b="1" dirty="0">
                <a:latin typeface="Baskerville Old Face" panose="02020602080505020303" pitchFamily="18" charset="0"/>
              </a:rPr>
              <a:t>1.How many unique customers have placed orders?</a:t>
            </a:r>
            <a:endParaRPr lang="en-IN" sz="3600" b="1" dirty="0">
              <a:latin typeface="Baskerville Old Face" panose="02020602080505020303" pitchFamily="18" charset="0"/>
            </a:endParaRPr>
          </a:p>
        </p:txBody>
      </p:sp>
      <p:pic>
        <p:nvPicPr>
          <p:cNvPr id="5" name="Picture 4">
            <a:extLst>
              <a:ext uri="{FF2B5EF4-FFF2-40B4-BE49-F238E27FC236}">
                <a16:creationId xmlns:a16="http://schemas.microsoft.com/office/drawing/2014/main" id="{BB766878-81AD-DC04-B30C-DF4DED723587}"/>
              </a:ext>
            </a:extLst>
          </p:cNvPr>
          <p:cNvPicPr>
            <a:picLocks noChangeAspect="1"/>
          </p:cNvPicPr>
          <p:nvPr/>
        </p:nvPicPr>
        <p:blipFill>
          <a:blip r:embed="rId2"/>
          <a:stretch>
            <a:fillRect/>
          </a:stretch>
        </p:blipFill>
        <p:spPr>
          <a:xfrm>
            <a:off x="1500902" y="1188796"/>
            <a:ext cx="6937414" cy="698398"/>
          </a:xfrm>
          <a:prstGeom prst="rect">
            <a:avLst/>
          </a:prstGeom>
        </p:spPr>
      </p:pic>
      <p:pic>
        <p:nvPicPr>
          <p:cNvPr id="7" name="Picture 6">
            <a:extLst>
              <a:ext uri="{FF2B5EF4-FFF2-40B4-BE49-F238E27FC236}">
                <a16:creationId xmlns:a16="http://schemas.microsoft.com/office/drawing/2014/main" id="{70A39CCD-7A58-6EE7-0493-C0F444404AD6}"/>
              </a:ext>
            </a:extLst>
          </p:cNvPr>
          <p:cNvPicPr>
            <a:picLocks noChangeAspect="1"/>
          </p:cNvPicPr>
          <p:nvPr/>
        </p:nvPicPr>
        <p:blipFill>
          <a:blip r:embed="rId3"/>
          <a:stretch>
            <a:fillRect/>
          </a:stretch>
        </p:blipFill>
        <p:spPr>
          <a:xfrm>
            <a:off x="3395328" y="2368086"/>
            <a:ext cx="3148561" cy="833167"/>
          </a:xfrm>
          <a:prstGeom prst="rect">
            <a:avLst/>
          </a:prstGeom>
        </p:spPr>
      </p:pic>
      <p:sp>
        <p:nvSpPr>
          <p:cNvPr id="8" name="TextBox 7">
            <a:extLst>
              <a:ext uri="{FF2B5EF4-FFF2-40B4-BE49-F238E27FC236}">
                <a16:creationId xmlns:a16="http://schemas.microsoft.com/office/drawing/2014/main" id="{EB1DCB90-AD32-E662-5A97-A9933807FE5A}"/>
              </a:ext>
            </a:extLst>
          </p:cNvPr>
          <p:cNvSpPr txBox="1"/>
          <p:nvPr/>
        </p:nvSpPr>
        <p:spPr>
          <a:xfrm>
            <a:off x="4472243" y="1844866"/>
            <a:ext cx="2015613" cy="523220"/>
          </a:xfrm>
          <a:prstGeom prst="rect">
            <a:avLst/>
          </a:prstGeom>
          <a:noFill/>
        </p:spPr>
        <p:txBody>
          <a:bodyPr wrap="square" rtlCol="0">
            <a:spAutoFit/>
          </a:bodyPr>
          <a:lstStyle/>
          <a:p>
            <a:r>
              <a:rPr lang="en-IN" sz="2800" b="1" dirty="0">
                <a:latin typeface="Baskerville Old Face" panose="02020602080505020303" pitchFamily="18" charset="0"/>
              </a:rPr>
              <a:t>output</a:t>
            </a:r>
          </a:p>
        </p:txBody>
      </p:sp>
      <p:sp>
        <p:nvSpPr>
          <p:cNvPr id="9" name="TextBox 8">
            <a:extLst>
              <a:ext uri="{FF2B5EF4-FFF2-40B4-BE49-F238E27FC236}">
                <a16:creationId xmlns:a16="http://schemas.microsoft.com/office/drawing/2014/main" id="{50F41751-FB94-52C1-D61E-23495708D14E}"/>
              </a:ext>
            </a:extLst>
          </p:cNvPr>
          <p:cNvSpPr txBox="1"/>
          <p:nvPr/>
        </p:nvSpPr>
        <p:spPr>
          <a:xfrm>
            <a:off x="335321" y="3275404"/>
            <a:ext cx="10874477" cy="584775"/>
          </a:xfrm>
          <a:prstGeom prst="rect">
            <a:avLst/>
          </a:prstGeom>
          <a:noFill/>
        </p:spPr>
        <p:txBody>
          <a:bodyPr wrap="square" rtlCol="0">
            <a:spAutoFit/>
          </a:bodyPr>
          <a:lstStyle/>
          <a:p>
            <a:r>
              <a:rPr lang="en-US" sz="3200" b="1" dirty="0">
                <a:latin typeface="Baskerville Old Face" panose="02020602080505020303" pitchFamily="18" charset="0"/>
              </a:rPr>
              <a:t>2.Which customers have placed the highest number of orders?</a:t>
            </a:r>
            <a:endParaRPr lang="en-IN" sz="3200" b="1" dirty="0">
              <a:latin typeface="Baskerville Old Face" panose="02020602080505020303" pitchFamily="18" charset="0"/>
            </a:endParaRPr>
          </a:p>
        </p:txBody>
      </p:sp>
      <p:sp>
        <p:nvSpPr>
          <p:cNvPr id="14" name="TextBox 13">
            <a:extLst>
              <a:ext uri="{FF2B5EF4-FFF2-40B4-BE49-F238E27FC236}">
                <a16:creationId xmlns:a16="http://schemas.microsoft.com/office/drawing/2014/main" id="{E3202E37-2F36-4336-908C-06A3FEA35BF3}"/>
              </a:ext>
            </a:extLst>
          </p:cNvPr>
          <p:cNvSpPr txBox="1"/>
          <p:nvPr/>
        </p:nvSpPr>
        <p:spPr>
          <a:xfrm>
            <a:off x="8989790" y="4245380"/>
            <a:ext cx="1748060" cy="523220"/>
          </a:xfrm>
          <a:prstGeom prst="rect">
            <a:avLst/>
          </a:prstGeom>
          <a:noFill/>
        </p:spPr>
        <p:txBody>
          <a:bodyPr wrap="square" rtlCol="0">
            <a:spAutoFit/>
          </a:bodyPr>
          <a:lstStyle/>
          <a:p>
            <a:r>
              <a:rPr lang="en-IN" sz="2800" b="1" dirty="0">
                <a:latin typeface="Baskerville Old Face" panose="02020602080505020303" pitchFamily="18" charset="0"/>
              </a:rPr>
              <a:t>output</a:t>
            </a:r>
          </a:p>
        </p:txBody>
      </p:sp>
      <p:pic>
        <p:nvPicPr>
          <p:cNvPr id="16" name="Picture 15">
            <a:extLst>
              <a:ext uri="{FF2B5EF4-FFF2-40B4-BE49-F238E27FC236}">
                <a16:creationId xmlns:a16="http://schemas.microsoft.com/office/drawing/2014/main" id="{50ECBB94-AC7B-9B1D-C57F-EA3706959B80}"/>
              </a:ext>
            </a:extLst>
          </p:cNvPr>
          <p:cNvPicPr>
            <a:picLocks noChangeAspect="1"/>
          </p:cNvPicPr>
          <p:nvPr/>
        </p:nvPicPr>
        <p:blipFill>
          <a:blip r:embed="rId4"/>
          <a:stretch>
            <a:fillRect/>
          </a:stretch>
        </p:blipFill>
        <p:spPr>
          <a:xfrm>
            <a:off x="561230" y="4424516"/>
            <a:ext cx="5091318" cy="1591696"/>
          </a:xfrm>
          <a:prstGeom prst="rect">
            <a:avLst/>
          </a:prstGeom>
        </p:spPr>
      </p:pic>
      <p:pic>
        <p:nvPicPr>
          <p:cNvPr id="18" name="Picture 17">
            <a:extLst>
              <a:ext uri="{FF2B5EF4-FFF2-40B4-BE49-F238E27FC236}">
                <a16:creationId xmlns:a16="http://schemas.microsoft.com/office/drawing/2014/main" id="{E8A104A2-AF77-F0ED-F12C-ABDE35856E55}"/>
              </a:ext>
            </a:extLst>
          </p:cNvPr>
          <p:cNvPicPr>
            <a:picLocks noChangeAspect="1"/>
          </p:cNvPicPr>
          <p:nvPr/>
        </p:nvPicPr>
        <p:blipFill>
          <a:blip r:embed="rId5"/>
          <a:stretch>
            <a:fillRect/>
          </a:stretch>
        </p:blipFill>
        <p:spPr>
          <a:xfrm>
            <a:off x="7898071" y="5149902"/>
            <a:ext cx="3545665" cy="630901"/>
          </a:xfrm>
          <a:prstGeom prst="rect">
            <a:avLst/>
          </a:prstGeom>
        </p:spPr>
      </p:pic>
    </p:spTree>
    <p:extLst>
      <p:ext uri="{BB962C8B-B14F-4D97-AF65-F5344CB8AC3E}">
        <p14:creationId xmlns:p14="http://schemas.microsoft.com/office/powerpoint/2010/main" val="4172738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2DE525D-2356-081B-1839-51022C249C48}"/>
              </a:ext>
            </a:extLst>
          </p:cNvPr>
          <p:cNvSpPr txBox="1"/>
          <p:nvPr/>
        </p:nvSpPr>
        <p:spPr>
          <a:xfrm>
            <a:off x="831850" y="245130"/>
            <a:ext cx="9065342" cy="523220"/>
          </a:xfrm>
          <a:prstGeom prst="rect">
            <a:avLst/>
          </a:prstGeom>
          <a:noFill/>
        </p:spPr>
        <p:txBody>
          <a:bodyPr wrap="square">
            <a:spAutoFit/>
          </a:bodyPr>
          <a:lstStyle/>
          <a:p>
            <a:r>
              <a:rPr lang="en-US" sz="2800" b="1" dirty="0">
                <a:latin typeface="Baskerville Old Face" panose="02020602080505020303" pitchFamily="18" charset="0"/>
              </a:rPr>
              <a:t>3.What is the total and average purchase value per customer?</a:t>
            </a:r>
            <a:endParaRPr lang="en-IN" sz="28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5D468CD2-4926-9EC4-A233-AE70E9D0768C}"/>
              </a:ext>
            </a:extLst>
          </p:cNvPr>
          <p:cNvPicPr>
            <a:picLocks noChangeAspect="1"/>
          </p:cNvPicPr>
          <p:nvPr/>
        </p:nvPicPr>
        <p:blipFill>
          <a:blip r:embed="rId2"/>
          <a:stretch>
            <a:fillRect/>
          </a:stretch>
        </p:blipFill>
        <p:spPr>
          <a:xfrm>
            <a:off x="831850" y="1836995"/>
            <a:ext cx="5445018" cy="3581059"/>
          </a:xfrm>
          <a:prstGeom prst="rect">
            <a:avLst/>
          </a:prstGeom>
        </p:spPr>
      </p:pic>
      <p:pic>
        <p:nvPicPr>
          <p:cNvPr id="11" name="Picture 10">
            <a:extLst>
              <a:ext uri="{FF2B5EF4-FFF2-40B4-BE49-F238E27FC236}">
                <a16:creationId xmlns:a16="http://schemas.microsoft.com/office/drawing/2014/main" id="{83CD443A-B9DB-AC84-20FF-F9D31A3DEE36}"/>
              </a:ext>
            </a:extLst>
          </p:cNvPr>
          <p:cNvPicPr>
            <a:picLocks noChangeAspect="1"/>
          </p:cNvPicPr>
          <p:nvPr/>
        </p:nvPicPr>
        <p:blipFill>
          <a:blip r:embed="rId3"/>
          <a:stretch>
            <a:fillRect/>
          </a:stretch>
        </p:blipFill>
        <p:spPr>
          <a:xfrm>
            <a:off x="7385907" y="1547693"/>
            <a:ext cx="4153352" cy="4641982"/>
          </a:xfrm>
          <a:prstGeom prst="rect">
            <a:avLst/>
          </a:prstGeom>
        </p:spPr>
      </p:pic>
      <p:sp>
        <p:nvSpPr>
          <p:cNvPr id="12" name="TextBox 11">
            <a:extLst>
              <a:ext uri="{FF2B5EF4-FFF2-40B4-BE49-F238E27FC236}">
                <a16:creationId xmlns:a16="http://schemas.microsoft.com/office/drawing/2014/main" id="{7FF2EDAE-A358-FDDA-0DC4-370AB1B09639}"/>
              </a:ext>
            </a:extLst>
          </p:cNvPr>
          <p:cNvSpPr txBox="1"/>
          <p:nvPr/>
        </p:nvSpPr>
        <p:spPr>
          <a:xfrm>
            <a:off x="8791873" y="927189"/>
            <a:ext cx="2210637" cy="461665"/>
          </a:xfrm>
          <a:prstGeom prst="rect">
            <a:avLst/>
          </a:prstGeom>
          <a:noFill/>
        </p:spPr>
        <p:txBody>
          <a:bodyPr wrap="square" rtlCol="0">
            <a:spAutoFit/>
          </a:bodyPr>
          <a:lstStyle/>
          <a:p>
            <a:r>
              <a:rPr lang="en-IN" sz="2400" b="1" dirty="0">
                <a:latin typeface="Baskerville Old Face" panose="02020602080505020303" pitchFamily="18" charset="0"/>
              </a:rPr>
              <a:t>output</a:t>
            </a:r>
          </a:p>
        </p:txBody>
      </p:sp>
    </p:spTree>
    <p:extLst>
      <p:ext uri="{BB962C8B-B14F-4D97-AF65-F5344CB8AC3E}">
        <p14:creationId xmlns:p14="http://schemas.microsoft.com/office/powerpoint/2010/main" val="2225585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83BFEF-DC9A-12BA-9D91-65576EBFABB1}"/>
              </a:ext>
            </a:extLst>
          </p:cNvPr>
          <p:cNvSpPr txBox="1"/>
          <p:nvPr/>
        </p:nvSpPr>
        <p:spPr>
          <a:xfrm>
            <a:off x="1514168" y="768350"/>
            <a:ext cx="7973961" cy="461665"/>
          </a:xfrm>
          <a:prstGeom prst="rect">
            <a:avLst/>
          </a:prstGeom>
          <a:noFill/>
        </p:spPr>
        <p:txBody>
          <a:bodyPr wrap="square">
            <a:spAutoFit/>
          </a:bodyPr>
          <a:lstStyle/>
          <a:p>
            <a:r>
              <a:rPr lang="en-US" sz="2400" b="1" dirty="0">
                <a:latin typeface="Baskerville Old Face" panose="02020602080505020303" pitchFamily="18" charset="0"/>
              </a:rPr>
              <a:t>4.Who are the top 5 customers by total purchase amount?</a:t>
            </a:r>
            <a:endParaRPr lang="en-IN" sz="24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E5B50F13-E13D-9F5D-956D-369C42381DDC}"/>
              </a:ext>
            </a:extLst>
          </p:cNvPr>
          <p:cNvPicPr>
            <a:picLocks noChangeAspect="1"/>
          </p:cNvPicPr>
          <p:nvPr/>
        </p:nvPicPr>
        <p:blipFill>
          <a:blip r:embed="rId2"/>
          <a:stretch>
            <a:fillRect/>
          </a:stretch>
        </p:blipFill>
        <p:spPr>
          <a:xfrm>
            <a:off x="595121" y="2182048"/>
            <a:ext cx="6263149" cy="2966214"/>
          </a:xfrm>
          <a:prstGeom prst="rect">
            <a:avLst/>
          </a:prstGeom>
        </p:spPr>
      </p:pic>
      <p:pic>
        <p:nvPicPr>
          <p:cNvPr id="9" name="Picture 8">
            <a:extLst>
              <a:ext uri="{FF2B5EF4-FFF2-40B4-BE49-F238E27FC236}">
                <a16:creationId xmlns:a16="http://schemas.microsoft.com/office/drawing/2014/main" id="{EE208393-388A-D856-795C-FACA905CF98A}"/>
              </a:ext>
            </a:extLst>
          </p:cNvPr>
          <p:cNvPicPr>
            <a:picLocks noChangeAspect="1"/>
          </p:cNvPicPr>
          <p:nvPr/>
        </p:nvPicPr>
        <p:blipFill>
          <a:blip r:embed="rId3"/>
          <a:stretch>
            <a:fillRect/>
          </a:stretch>
        </p:blipFill>
        <p:spPr>
          <a:xfrm>
            <a:off x="8209503" y="2681492"/>
            <a:ext cx="4660923" cy="1907971"/>
          </a:xfrm>
          <a:prstGeom prst="rect">
            <a:avLst/>
          </a:prstGeom>
        </p:spPr>
      </p:pic>
      <p:sp>
        <p:nvSpPr>
          <p:cNvPr id="10" name="TextBox 9">
            <a:extLst>
              <a:ext uri="{FF2B5EF4-FFF2-40B4-BE49-F238E27FC236}">
                <a16:creationId xmlns:a16="http://schemas.microsoft.com/office/drawing/2014/main" id="{3018BB2F-DDBE-5C21-8CAC-5C83A010B979}"/>
              </a:ext>
            </a:extLst>
          </p:cNvPr>
          <p:cNvSpPr txBox="1"/>
          <p:nvPr/>
        </p:nvSpPr>
        <p:spPr>
          <a:xfrm>
            <a:off x="8970991" y="1918411"/>
            <a:ext cx="2059912" cy="523220"/>
          </a:xfrm>
          <a:prstGeom prst="rect">
            <a:avLst/>
          </a:prstGeom>
          <a:noFill/>
        </p:spPr>
        <p:txBody>
          <a:bodyPr wrap="square" rtlCol="0">
            <a:spAutoFit/>
          </a:bodyPr>
          <a:lstStyle/>
          <a:p>
            <a:r>
              <a:rPr lang="en-IN" sz="2800" b="1" dirty="0">
                <a:latin typeface="Baskerville Old Face" panose="02020602080505020303" pitchFamily="18" charset="0"/>
              </a:rPr>
              <a:t>output</a:t>
            </a:r>
          </a:p>
        </p:txBody>
      </p:sp>
    </p:spTree>
    <p:extLst>
      <p:ext uri="{BB962C8B-B14F-4D97-AF65-F5344CB8AC3E}">
        <p14:creationId xmlns:p14="http://schemas.microsoft.com/office/powerpoint/2010/main" val="3660886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D1A22-737C-26F9-8804-5CD935545061}"/>
              </a:ext>
            </a:extLst>
          </p:cNvPr>
          <p:cNvSpPr>
            <a:spLocks noGrp="1"/>
          </p:cNvSpPr>
          <p:nvPr>
            <p:ph type="title"/>
          </p:nvPr>
        </p:nvSpPr>
        <p:spPr>
          <a:xfrm>
            <a:off x="2178329" y="235264"/>
            <a:ext cx="7870023" cy="533086"/>
          </a:xfrm>
        </p:spPr>
        <p:txBody>
          <a:bodyPr>
            <a:noAutofit/>
          </a:bodyPr>
          <a:lstStyle/>
          <a:p>
            <a:r>
              <a:rPr lang="en-US" sz="3200" b="1" dirty="0">
                <a:latin typeface="Baskerville Old Face" panose="02020602080505020303" pitchFamily="18" charset="0"/>
              </a:rPr>
              <a:t>5.How many products exist in each category?</a:t>
            </a:r>
            <a:endParaRPr lang="en-IN" sz="32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59E0B408-3E91-D58F-C77E-9B166CA055F9}"/>
              </a:ext>
            </a:extLst>
          </p:cNvPr>
          <p:cNvPicPr>
            <a:picLocks noChangeAspect="1"/>
          </p:cNvPicPr>
          <p:nvPr/>
        </p:nvPicPr>
        <p:blipFill>
          <a:blip r:embed="rId2"/>
          <a:stretch>
            <a:fillRect/>
          </a:stretch>
        </p:blipFill>
        <p:spPr>
          <a:xfrm>
            <a:off x="2908263" y="1019483"/>
            <a:ext cx="5290768" cy="2132762"/>
          </a:xfrm>
          <a:prstGeom prst="rect">
            <a:avLst/>
          </a:prstGeom>
        </p:spPr>
      </p:pic>
      <p:pic>
        <p:nvPicPr>
          <p:cNvPr id="9" name="Picture 8">
            <a:extLst>
              <a:ext uri="{FF2B5EF4-FFF2-40B4-BE49-F238E27FC236}">
                <a16:creationId xmlns:a16="http://schemas.microsoft.com/office/drawing/2014/main" id="{12FB1A02-53B5-CFDF-4A07-64B955B7E6AB}"/>
              </a:ext>
            </a:extLst>
          </p:cNvPr>
          <p:cNvPicPr>
            <a:picLocks noChangeAspect="1"/>
          </p:cNvPicPr>
          <p:nvPr/>
        </p:nvPicPr>
        <p:blipFill>
          <a:blip r:embed="rId3"/>
          <a:stretch>
            <a:fillRect/>
          </a:stretch>
        </p:blipFill>
        <p:spPr>
          <a:xfrm>
            <a:off x="2814813" y="4433289"/>
            <a:ext cx="5290768" cy="2017753"/>
          </a:xfrm>
          <a:prstGeom prst="rect">
            <a:avLst/>
          </a:prstGeom>
        </p:spPr>
      </p:pic>
      <p:sp>
        <p:nvSpPr>
          <p:cNvPr id="10" name="TextBox 9">
            <a:extLst>
              <a:ext uri="{FF2B5EF4-FFF2-40B4-BE49-F238E27FC236}">
                <a16:creationId xmlns:a16="http://schemas.microsoft.com/office/drawing/2014/main" id="{235B13AB-5E9C-3F0E-CA83-4A5673C5EF32}"/>
              </a:ext>
            </a:extLst>
          </p:cNvPr>
          <p:cNvSpPr txBox="1"/>
          <p:nvPr/>
        </p:nvSpPr>
        <p:spPr>
          <a:xfrm>
            <a:off x="4965560" y="3726546"/>
            <a:ext cx="2260879" cy="523220"/>
          </a:xfrm>
          <a:prstGeom prst="rect">
            <a:avLst/>
          </a:prstGeom>
          <a:noFill/>
        </p:spPr>
        <p:txBody>
          <a:bodyPr wrap="square" rtlCol="0">
            <a:spAutoFit/>
          </a:bodyPr>
          <a:lstStyle/>
          <a:p>
            <a:r>
              <a:rPr lang="en-IN" sz="2800" b="1" dirty="0">
                <a:latin typeface="Baskerville Old Face" panose="02020602080505020303" pitchFamily="18" charset="0"/>
              </a:rPr>
              <a:t>output</a:t>
            </a:r>
          </a:p>
        </p:txBody>
      </p:sp>
    </p:spTree>
    <p:extLst>
      <p:ext uri="{BB962C8B-B14F-4D97-AF65-F5344CB8AC3E}">
        <p14:creationId xmlns:p14="http://schemas.microsoft.com/office/powerpoint/2010/main" val="344466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2281B-9885-59F6-ADF1-65E58C2D46E4}"/>
              </a:ext>
            </a:extLst>
          </p:cNvPr>
          <p:cNvSpPr>
            <a:spLocks noGrp="1"/>
          </p:cNvSpPr>
          <p:nvPr>
            <p:ph type="title"/>
          </p:nvPr>
        </p:nvSpPr>
        <p:spPr>
          <a:xfrm>
            <a:off x="1344316" y="185022"/>
            <a:ext cx="8995438" cy="583328"/>
          </a:xfrm>
        </p:spPr>
        <p:txBody>
          <a:bodyPr>
            <a:normAutofit/>
          </a:bodyPr>
          <a:lstStyle/>
          <a:p>
            <a:r>
              <a:rPr lang="en-US" sz="3200" b="1" dirty="0">
                <a:latin typeface="Baskerville Old Face" panose="02020602080505020303" pitchFamily="18" charset="0"/>
              </a:rPr>
              <a:t>6.What is the average price of products by category?</a:t>
            </a:r>
            <a:endParaRPr lang="en-IN" sz="3200" b="1" dirty="0">
              <a:latin typeface="Baskerville Old Face" panose="02020602080505020303" pitchFamily="18" charset="0"/>
            </a:endParaRPr>
          </a:p>
        </p:txBody>
      </p:sp>
      <p:pic>
        <p:nvPicPr>
          <p:cNvPr id="5" name="Picture 4">
            <a:extLst>
              <a:ext uri="{FF2B5EF4-FFF2-40B4-BE49-F238E27FC236}">
                <a16:creationId xmlns:a16="http://schemas.microsoft.com/office/drawing/2014/main" id="{553306E4-B541-106F-245F-6B4C9856DE71}"/>
              </a:ext>
            </a:extLst>
          </p:cNvPr>
          <p:cNvPicPr>
            <a:picLocks noChangeAspect="1"/>
          </p:cNvPicPr>
          <p:nvPr/>
        </p:nvPicPr>
        <p:blipFill>
          <a:blip r:embed="rId2"/>
          <a:stretch>
            <a:fillRect/>
          </a:stretch>
        </p:blipFill>
        <p:spPr>
          <a:xfrm>
            <a:off x="2107702" y="1195755"/>
            <a:ext cx="6909392" cy="1758754"/>
          </a:xfrm>
          <a:prstGeom prst="rect">
            <a:avLst/>
          </a:prstGeom>
        </p:spPr>
      </p:pic>
      <p:pic>
        <p:nvPicPr>
          <p:cNvPr id="7" name="Picture 6">
            <a:extLst>
              <a:ext uri="{FF2B5EF4-FFF2-40B4-BE49-F238E27FC236}">
                <a16:creationId xmlns:a16="http://schemas.microsoft.com/office/drawing/2014/main" id="{99000C30-A819-1D2C-A235-FF784F192A96}"/>
              </a:ext>
            </a:extLst>
          </p:cNvPr>
          <p:cNvPicPr>
            <a:picLocks noChangeAspect="1"/>
          </p:cNvPicPr>
          <p:nvPr/>
        </p:nvPicPr>
        <p:blipFill>
          <a:blip r:embed="rId3"/>
          <a:stretch>
            <a:fillRect/>
          </a:stretch>
        </p:blipFill>
        <p:spPr>
          <a:xfrm>
            <a:off x="3268661" y="4493579"/>
            <a:ext cx="4587474" cy="2088091"/>
          </a:xfrm>
          <a:prstGeom prst="rect">
            <a:avLst/>
          </a:prstGeom>
        </p:spPr>
      </p:pic>
      <p:sp>
        <p:nvSpPr>
          <p:cNvPr id="8" name="TextBox 7">
            <a:extLst>
              <a:ext uri="{FF2B5EF4-FFF2-40B4-BE49-F238E27FC236}">
                <a16:creationId xmlns:a16="http://schemas.microsoft.com/office/drawing/2014/main" id="{3BFE917A-FDF7-089C-D05E-BB406EB3D9F6}"/>
              </a:ext>
            </a:extLst>
          </p:cNvPr>
          <p:cNvSpPr txBox="1"/>
          <p:nvPr/>
        </p:nvSpPr>
        <p:spPr>
          <a:xfrm>
            <a:off x="4666595" y="3835833"/>
            <a:ext cx="2652764" cy="523220"/>
          </a:xfrm>
          <a:prstGeom prst="rect">
            <a:avLst/>
          </a:prstGeom>
          <a:noFill/>
        </p:spPr>
        <p:txBody>
          <a:bodyPr wrap="square" rtlCol="0">
            <a:spAutoFit/>
          </a:bodyPr>
          <a:lstStyle/>
          <a:p>
            <a:r>
              <a:rPr lang="en-IN" sz="2800" b="1" dirty="0">
                <a:latin typeface="Baskerville Old Face" panose="02020602080505020303" pitchFamily="18" charset="0"/>
              </a:rPr>
              <a:t>output</a:t>
            </a:r>
          </a:p>
        </p:txBody>
      </p:sp>
    </p:spTree>
    <p:extLst>
      <p:ext uri="{BB962C8B-B14F-4D97-AF65-F5344CB8AC3E}">
        <p14:creationId xmlns:p14="http://schemas.microsoft.com/office/powerpoint/2010/main" val="3744181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7F58B-34F3-743E-202E-63DA35E2F4A4}"/>
              </a:ext>
            </a:extLst>
          </p:cNvPr>
          <p:cNvSpPr>
            <a:spLocks noGrp="1"/>
          </p:cNvSpPr>
          <p:nvPr>
            <p:ph type="title"/>
          </p:nvPr>
        </p:nvSpPr>
        <p:spPr>
          <a:xfrm>
            <a:off x="721318" y="24249"/>
            <a:ext cx="11360150" cy="744101"/>
          </a:xfrm>
        </p:spPr>
        <p:txBody>
          <a:bodyPr>
            <a:normAutofit/>
          </a:bodyPr>
          <a:lstStyle/>
          <a:p>
            <a:r>
              <a:rPr lang="en-US" sz="3200" dirty="0">
                <a:latin typeface="Baskerville Old Face" panose="02020602080505020303" pitchFamily="18" charset="0"/>
              </a:rPr>
              <a:t>7.Which products have the highest total sales volume (by quantity)?</a:t>
            </a:r>
            <a:endParaRPr lang="en-IN" sz="3200" dirty="0">
              <a:latin typeface="Baskerville Old Face" panose="02020602080505020303" pitchFamily="18" charset="0"/>
            </a:endParaRPr>
          </a:p>
        </p:txBody>
      </p:sp>
      <p:pic>
        <p:nvPicPr>
          <p:cNvPr id="5" name="Picture 4">
            <a:extLst>
              <a:ext uri="{FF2B5EF4-FFF2-40B4-BE49-F238E27FC236}">
                <a16:creationId xmlns:a16="http://schemas.microsoft.com/office/drawing/2014/main" id="{8CC74058-8F7C-6B6D-8E52-886DA56DB691}"/>
              </a:ext>
            </a:extLst>
          </p:cNvPr>
          <p:cNvPicPr>
            <a:picLocks noChangeAspect="1"/>
          </p:cNvPicPr>
          <p:nvPr/>
        </p:nvPicPr>
        <p:blipFill>
          <a:blip r:embed="rId2"/>
          <a:stretch>
            <a:fillRect/>
          </a:stretch>
        </p:blipFill>
        <p:spPr>
          <a:xfrm>
            <a:off x="2186185" y="1090459"/>
            <a:ext cx="7018742" cy="1968355"/>
          </a:xfrm>
          <a:prstGeom prst="rect">
            <a:avLst/>
          </a:prstGeom>
        </p:spPr>
      </p:pic>
      <p:pic>
        <p:nvPicPr>
          <p:cNvPr id="7" name="Picture 6">
            <a:extLst>
              <a:ext uri="{FF2B5EF4-FFF2-40B4-BE49-F238E27FC236}">
                <a16:creationId xmlns:a16="http://schemas.microsoft.com/office/drawing/2014/main" id="{F81B4022-6A7E-622D-5335-92652BBE6E19}"/>
              </a:ext>
            </a:extLst>
          </p:cNvPr>
          <p:cNvPicPr>
            <a:picLocks noChangeAspect="1"/>
          </p:cNvPicPr>
          <p:nvPr/>
        </p:nvPicPr>
        <p:blipFill>
          <a:blip r:embed="rId3"/>
          <a:stretch>
            <a:fillRect/>
          </a:stretch>
        </p:blipFill>
        <p:spPr>
          <a:xfrm>
            <a:off x="3381938" y="4733825"/>
            <a:ext cx="4338542" cy="1007452"/>
          </a:xfrm>
          <a:prstGeom prst="rect">
            <a:avLst/>
          </a:prstGeom>
        </p:spPr>
      </p:pic>
      <p:sp>
        <p:nvSpPr>
          <p:cNvPr id="8" name="TextBox 7">
            <a:extLst>
              <a:ext uri="{FF2B5EF4-FFF2-40B4-BE49-F238E27FC236}">
                <a16:creationId xmlns:a16="http://schemas.microsoft.com/office/drawing/2014/main" id="{42D1B87A-D9EA-D053-A1CE-DE763C8E0D34}"/>
              </a:ext>
            </a:extLst>
          </p:cNvPr>
          <p:cNvSpPr txBox="1"/>
          <p:nvPr/>
        </p:nvSpPr>
        <p:spPr>
          <a:xfrm>
            <a:off x="4816325" y="3862232"/>
            <a:ext cx="1758462"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spTree>
    <p:extLst>
      <p:ext uri="{BB962C8B-B14F-4D97-AF65-F5344CB8AC3E}">
        <p14:creationId xmlns:p14="http://schemas.microsoft.com/office/powerpoint/2010/main" val="3376053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09A31-CD4C-5ED2-0C0F-0BBEB50EDEAC}"/>
              </a:ext>
            </a:extLst>
          </p:cNvPr>
          <p:cNvSpPr>
            <a:spLocks noGrp="1"/>
          </p:cNvSpPr>
          <p:nvPr>
            <p:ph type="title"/>
          </p:nvPr>
        </p:nvSpPr>
        <p:spPr>
          <a:xfrm>
            <a:off x="1343127" y="-1869204"/>
            <a:ext cx="10515600" cy="2852737"/>
          </a:xfrm>
        </p:spPr>
        <p:txBody>
          <a:bodyPr>
            <a:normAutofit/>
          </a:bodyPr>
          <a:lstStyle/>
          <a:p>
            <a:r>
              <a:rPr lang="en-US" sz="3200" dirty="0">
                <a:latin typeface="Baskerville Old Face" panose="02020602080505020303" pitchFamily="18" charset="0"/>
              </a:rPr>
              <a:t>8.What is the total revenue generated by each product?</a:t>
            </a:r>
            <a:endParaRPr lang="en-IN" sz="3200" dirty="0">
              <a:latin typeface="Baskerville Old Face" panose="02020602080505020303" pitchFamily="18" charset="0"/>
            </a:endParaRPr>
          </a:p>
        </p:txBody>
      </p:sp>
      <p:pic>
        <p:nvPicPr>
          <p:cNvPr id="5" name="Picture 4">
            <a:extLst>
              <a:ext uri="{FF2B5EF4-FFF2-40B4-BE49-F238E27FC236}">
                <a16:creationId xmlns:a16="http://schemas.microsoft.com/office/drawing/2014/main" id="{F0E4D5A4-D7C7-628A-A5F1-98A541A60757}"/>
              </a:ext>
            </a:extLst>
          </p:cNvPr>
          <p:cNvPicPr>
            <a:picLocks noChangeAspect="1"/>
          </p:cNvPicPr>
          <p:nvPr/>
        </p:nvPicPr>
        <p:blipFill>
          <a:blip r:embed="rId2"/>
          <a:stretch>
            <a:fillRect/>
          </a:stretch>
        </p:blipFill>
        <p:spPr>
          <a:xfrm>
            <a:off x="2717917" y="1531631"/>
            <a:ext cx="5029902" cy="1543265"/>
          </a:xfrm>
          <a:prstGeom prst="rect">
            <a:avLst/>
          </a:prstGeom>
        </p:spPr>
      </p:pic>
      <p:pic>
        <p:nvPicPr>
          <p:cNvPr id="7" name="Picture 6">
            <a:extLst>
              <a:ext uri="{FF2B5EF4-FFF2-40B4-BE49-F238E27FC236}">
                <a16:creationId xmlns:a16="http://schemas.microsoft.com/office/drawing/2014/main" id="{69A33E6F-0886-6077-837A-A6A98E828F71}"/>
              </a:ext>
            </a:extLst>
          </p:cNvPr>
          <p:cNvPicPr>
            <a:picLocks noChangeAspect="1"/>
          </p:cNvPicPr>
          <p:nvPr/>
        </p:nvPicPr>
        <p:blipFill>
          <a:blip r:embed="rId3"/>
          <a:stretch>
            <a:fillRect/>
          </a:stretch>
        </p:blipFill>
        <p:spPr>
          <a:xfrm>
            <a:off x="4629973" y="4160301"/>
            <a:ext cx="1798476" cy="1958510"/>
          </a:xfrm>
          <a:prstGeom prst="rect">
            <a:avLst/>
          </a:prstGeom>
        </p:spPr>
      </p:pic>
      <p:sp>
        <p:nvSpPr>
          <p:cNvPr id="8" name="TextBox 7">
            <a:extLst>
              <a:ext uri="{FF2B5EF4-FFF2-40B4-BE49-F238E27FC236}">
                <a16:creationId xmlns:a16="http://schemas.microsoft.com/office/drawing/2014/main" id="{F9F5C3B7-1CA9-9088-6FCE-72EB91A4F5FC}"/>
              </a:ext>
            </a:extLst>
          </p:cNvPr>
          <p:cNvSpPr txBox="1"/>
          <p:nvPr/>
        </p:nvSpPr>
        <p:spPr>
          <a:xfrm>
            <a:off x="4866968" y="3429000"/>
            <a:ext cx="2654709"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spTree>
    <p:extLst>
      <p:ext uri="{BB962C8B-B14F-4D97-AF65-F5344CB8AC3E}">
        <p14:creationId xmlns:p14="http://schemas.microsoft.com/office/powerpoint/2010/main" val="177260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A89F1-BB95-1C7F-039C-F6525780EE5D}"/>
              </a:ext>
            </a:extLst>
          </p:cNvPr>
          <p:cNvSpPr>
            <a:spLocks noGrp="1"/>
          </p:cNvSpPr>
          <p:nvPr>
            <p:ph type="title"/>
          </p:nvPr>
        </p:nvSpPr>
        <p:spPr>
          <a:xfrm>
            <a:off x="1185811" y="-1829875"/>
            <a:ext cx="10515600" cy="2852737"/>
          </a:xfrm>
        </p:spPr>
        <p:txBody>
          <a:bodyPr>
            <a:normAutofit/>
          </a:bodyPr>
          <a:lstStyle/>
          <a:p>
            <a:r>
              <a:rPr lang="en-US" sz="3200" dirty="0">
                <a:latin typeface="Baskerville Old Face" panose="02020602080505020303" pitchFamily="18" charset="0"/>
              </a:rPr>
              <a:t>9.How do product sales vary by category and supplier? </a:t>
            </a:r>
            <a:endParaRPr lang="en-IN" sz="3200" dirty="0">
              <a:latin typeface="Baskerville Old Face" panose="02020602080505020303" pitchFamily="18" charset="0"/>
            </a:endParaRPr>
          </a:p>
        </p:txBody>
      </p:sp>
      <p:pic>
        <p:nvPicPr>
          <p:cNvPr id="5" name="Picture 4">
            <a:extLst>
              <a:ext uri="{FF2B5EF4-FFF2-40B4-BE49-F238E27FC236}">
                <a16:creationId xmlns:a16="http://schemas.microsoft.com/office/drawing/2014/main" id="{49D3799B-89C1-61FC-03EB-1CF7F994EC5F}"/>
              </a:ext>
            </a:extLst>
          </p:cNvPr>
          <p:cNvPicPr>
            <a:picLocks noChangeAspect="1"/>
          </p:cNvPicPr>
          <p:nvPr/>
        </p:nvPicPr>
        <p:blipFill>
          <a:blip r:embed="rId2"/>
          <a:stretch>
            <a:fillRect/>
          </a:stretch>
        </p:blipFill>
        <p:spPr>
          <a:xfrm>
            <a:off x="3068591" y="1302921"/>
            <a:ext cx="4344006" cy="2305372"/>
          </a:xfrm>
          <a:prstGeom prst="rect">
            <a:avLst/>
          </a:prstGeom>
        </p:spPr>
      </p:pic>
      <p:sp>
        <p:nvSpPr>
          <p:cNvPr id="6" name="TextBox 5">
            <a:extLst>
              <a:ext uri="{FF2B5EF4-FFF2-40B4-BE49-F238E27FC236}">
                <a16:creationId xmlns:a16="http://schemas.microsoft.com/office/drawing/2014/main" id="{FE222A09-E51D-3A21-8134-02A06BEA04D8}"/>
              </a:ext>
            </a:extLst>
          </p:cNvPr>
          <p:cNvSpPr txBox="1"/>
          <p:nvPr/>
        </p:nvSpPr>
        <p:spPr>
          <a:xfrm>
            <a:off x="4291781" y="3785638"/>
            <a:ext cx="1897625" cy="523220"/>
          </a:xfrm>
          <a:prstGeom prst="rect">
            <a:avLst/>
          </a:prstGeom>
          <a:noFill/>
        </p:spPr>
        <p:txBody>
          <a:bodyPr wrap="square" rtlCol="0">
            <a:spAutoFit/>
          </a:bodyPr>
          <a:lstStyle/>
          <a:p>
            <a:r>
              <a:rPr lang="en-IN" sz="2800" dirty="0">
                <a:latin typeface="Baskerville Old Face" panose="02020602080505020303" pitchFamily="18" charset="0"/>
              </a:rPr>
              <a:t>0utput</a:t>
            </a:r>
          </a:p>
        </p:txBody>
      </p:sp>
      <p:pic>
        <p:nvPicPr>
          <p:cNvPr id="10" name="Picture 9">
            <a:extLst>
              <a:ext uri="{FF2B5EF4-FFF2-40B4-BE49-F238E27FC236}">
                <a16:creationId xmlns:a16="http://schemas.microsoft.com/office/drawing/2014/main" id="{D1212189-F141-993D-1CC8-D8CA921F9F6C}"/>
              </a:ext>
            </a:extLst>
          </p:cNvPr>
          <p:cNvPicPr>
            <a:picLocks noChangeAspect="1"/>
          </p:cNvPicPr>
          <p:nvPr/>
        </p:nvPicPr>
        <p:blipFill>
          <a:blip r:embed="rId3"/>
          <a:stretch>
            <a:fillRect/>
          </a:stretch>
        </p:blipFill>
        <p:spPr>
          <a:xfrm>
            <a:off x="3001906" y="4402393"/>
            <a:ext cx="4410691" cy="2305372"/>
          </a:xfrm>
          <a:prstGeom prst="rect">
            <a:avLst/>
          </a:prstGeom>
        </p:spPr>
      </p:pic>
    </p:spTree>
    <p:extLst>
      <p:ext uri="{BB962C8B-B14F-4D97-AF65-F5344CB8AC3E}">
        <p14:creationId xmlns:p14="http://schemas.microsoft.com/office/powerpoint/2010/main" val="567253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9A328-849F-723A-4328-72E36331C135}"/>
              </a:ext>
            </a:extLst>
          </p:cNvPr>
          <p:cNvSpPr>
            <a:spLocks noGrp="1"/>
          </p:cNvSpPr>
          <p:nvPr>
            <p:ph type="title"/>
          </p:nvPr>
        </p:nvSpPr>
        <p:spPr>
          <a:xfrm>
            <a:off x="1854406" y="-1928197"/>
            <a:ext cx="10515600" cy="2852737"/>
          </a:xfrm>
        </p:spPr>
        <p:txBody>
          <a:bodyPr>
            <a:normAutofit/>
          </a:bodyPr>
          <a:lstStyle/>
          <a:p>
            <a:r>
              <a:rPr lang="en-US" sz="3200" dirty="0">
                <a:latin typeface="Baskerville Old Face" panose="02020602080505020303" pitchFamily="18" charset="0"/>
              </a:rPr>
              <a:t>10.How many orders have been placed in total? </a:t>
            </a:r>
            <a:endParaRPr lang="en-IN" sz="3200" dirty="0">
              <a:latin typeface="Baskerville Old Face" panose="02020602080505020303" pitchFamily="18" charset="0"/>
            </a:endParaRPr>
          </a:p>
        </p:txBody>
      </p:sp>
      <p:sp>
        <p:nvSpPr>
          <p:cNvPr id="3" name="Text Placeholder 2">
            <a:extLst>
              <a:ext uri="{FF2B5EF4-FFF2-40B4-BE49-F238E27FC236}">
                <a16:creationId xmlns:a16="http://schemas.microsoft.com/office/drawing/2014/main" id="{53575B9A-4DFB-F579-8EE4-5E7DFF9B297C}"/>
              </a:ext>
            </a:extLst>
          </p:cNvPr>
          <p:cNvSpPr>
            <a:spLocks noGrp="1"/>
          </p:cNvSpPr>
          <p:nvPr>
            <p:ph type="body" idx="1"/>
          </p:nvPr>
        </p:nvSpPr>
        <p:spPr>
          <a:xfrm>
            <a:off x="1620890" y="3009195"/>
            <a:ext cx="10515600" cy="1500187"/>
          </a:xfrm>
        </p:spPr>
        <p:txBody>
          <a:bodyPr>
            <a:normAutofit/>
          </a:bodyPr>
          <a:lstStyle/>
          <a:p>
            <a:r>
              <a:rPr lang="en-US" sz="3200" dirty="0">
                <a:solidFill>
                  <a:schemeClr val="tx1"/>
                </a:solidFill>
                <a:latin typeface="Baskerville Old Face" panose="02020602080505020303" pitchFamily="18" charset="0"/>
              </a:rPr>
              <a:t>11.What is the average value per order?</a:t>
            </a:r>
            <a:endParaRPr lang="en-IN" sz="3200" dirty="0">
              <a:solidFill>
                <a:schemeClr val="tx1"/>
              </a:solidFill>
              <a:latin typeface="Baskerville Old Face" panose="02020602080505020303" pitchFamily="18" charset="0"/>
            </a:endParaRPr>
          </a:p>
        </p:txBody>
      </p:sp>
      <p:pic>
        <p:nvPicPr>
          <p:cNvPr id="5" name="Picture 4">
            <a:extLst>
              <a:ext uri="{FF2B5EF4-FFF2-40B4-BE49-F238E27FC236}">
                <a16:creationId xmlns:a16="http://schemas.microsoft.com/office/drawing/2014/main" id="{81621011-CB8E-75C9-706A-043C08C90404}"/>
              </a:ext>
            </a:extLst>
          </p:cNvPr>
          <p:cNvPicPr>
            <a:picLocks noChangeAspect="1"/>
          </p:cNvPicPr>
          <p:nvPr/>
        </p:nvPicPr>
        <p:blipFill>
          <a:blip r:embed="rId2"/>
          <a:stretch>
            <a:fillRect/>
          </a:stretch>
        </p:blipFill>
        <p:spPr>
          <a:xfrm>
            <a:off x="2456760" y="1354963"/>
            <a:ext cx="3286584" cy="647790"/>
          </a:xfrm>
          <a:prstGeom prst="rect">
            <a:avLst/>
          </a:prstGeom>
        </p:spPr>
      </p:pic>
      <p:sp>
        <p:nvSpPr>
          <p:cNvPr id="6" name="TextBox 5">
            <a:extLst>
              <a:ext uri="{FF2B5EF4-FFF2-40B4-BE49-F238E27FC236}">
                <a16:creationId xmlns:a16="http://schemas.microsoft.com/office/drawing/2014/main" id="{4AA29A2C-942B-E4D7-0952-14CDE7F68248}"/>
              </a:ext>
            </a:extLst>
          </p:cNvPr>
          <p:cNvSpPr txBox="1"/>
          <p:nvPr/>
        </p:nvSpPr>
        <p:spPr>
          <a:xfrm>
            <a:off x="6656439" y="1962932"/>
            <a:ext cx="2320413" cy="461665"/>
          </a:xfrm>
          <a:prstGeom prst="rect">
            <a:avLst/>
          </a:prstGeom>
          <a:noFill/>
        </p:spPr>
        <p:txBody>
          <a:bodyPr wrap="square" rtlCol="0">
            <a:spAutoFit/>
          </a:bodyPr>
          <a:lstStyle/>
          <a:p>
            <a:r>
              <a:rPr lang="en-IN" sz="2400" dirty="0">
                <a:latin typeface="Baskerville Old Face" panose="02020602080505020303" pitchFamily="18" charset="0"/>
              </a:rPr>
              <a:t>output</a:t>
            </a:r>
          </a:p>
        </p:txBody>
      </p:sp>
      <p:pic>
        <p:nvPicPr>
          <p:cNvPr id="8" name="Picture 7">
            <a:extLst>
              <a:ext uri="{FF2B5EF4-FFF2-40B4-BE49-F238E27FC236}">
                <a16:creationId xmlns:a16="http://schemas.microsoft.com/office/drawing/2014/main" id="{C411E04F-08B0-3D84-10D6-4172EB486CAD}"/>
              </a:ext>
            </a:extLst>
          </p:cNvPr>
          <p:cNvPicPr>
            <a:picLocks noChangeAspect="1"/>
          </p:cNvPicPr>
          <p:nvPr/>
        </p:nvPicPr>
        <p:blipFill>
          <a:blip r:embed="rId3"/>
          <a:stretch>
            <a:fillRect/>
          </a:stretch>
        </p:blipFill>
        <p:spPr>
          <a:xfrm>
            <a:off x="7816645" y="2424597"/>
            <a:ext cx="1409897" cy="609685"/>
          </a:xfrm>
          <a:prstGeom prst="rect">
            <a:avLst/>
          </a:prstGeom>
        </p:spPr>
      </p:pic>
      <p:pic>
        <p:nvPicPr>
          <p:cNvPr id="10" name="Picture 9">
            <a:extLst>
              <a:ext uri="{FF2B5EF4-FFF2-40B4-BE49-F238E27FC236}">
                <a16:creationId xmlns:a16="http://schemas.microsoft.com/office/drawing/2014/main" id="{6663846A-0182-1A35-C6B3-55623880FBF3}"/>
              </a:ext>
            </a:extLst>
          </p:cNvPr>
          <p:cNvPicPr>
            <a:picLocks noChangeAspect="1"/>
          </p:cNvPicPr>
          <p:nvPr/>
        </p:nvPicPr>
        <p:blipFill>
          <a:blip r:embed="rId4"/>
          <a:stretch>
            <a:fillRect/>
          </a:stretch>
        </p:blipFill>
        <p:spPr>
          <a:xfrm>
            <a:off x="2401315" y="3859520"/>
            <a:ext cx="4477375" cy="1543265"/>
          </a:xfrm>
          <a:prstGeom prst="rect">
            <a:avLst/>
          </a:prstGeom>
        </p:spPr>
      </p:pic>
      <p:sp>
        <p:nvSpPr>
          <p:cNvPr id="11" name="TextBox 10">
            <a:extLst>
              <a:ext uri="{FF2B5EF4-FFF2-40B4-BE49-F238E27FC236}">
                <a16:creationId xmlns:a16="http://schemas.microsoft.com/office/drawing/2014/main" id="{153B384D-4519-9D05-9EA6-FBEFC520A1A9}"/>
              </a:ext>
            </a:extLst>
          </p:cNvPr>
          <p:cNvSpPr txBox="1"/>
          <p:nvPr/>
        </p:nvSpPr>
        <p:spPr>
          <a:xfrm>
            <a:off x="4959737" y="5503037"/>
            <a:ext cx="1567213"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3" name="Picture 12">
            <a:extLst>
              <a:ext uri="{FF2B5EF4-FFF2-40B4-BE49-F238E27FC236}">
                <a16:creationId xmlns:a16="http://schemas.microsoft.com/office/drawing/2014/main" id="{94EC2F9A-DC98-CD6C-0ADE-4F6FDD5A624C}"/>
              </a:ext>
            </a:extLst>
          </p:cNvPr>
          <p:cNvPicPr>
            <a:picLocks noChangeAspect="1"/>
          </p:cNvPicPr>
          <p:nvPr/>
        </p:nvPicPr>
        <p:blipFill>
          <a:blip r:embed="rId5"/>
          <a:stretch>
            <a:fillRect/>
          </a:stretch>
        </p:blipFill>
        <p:spPr>
          <a:xfrm>
            <a:off x="5997724" y="6126509"/>
            <a:ext cx="1533739" cy="590632"/>
          </a:xfrm>
          <a:prstGeom prst="rect">
            <a:avLst/>
          </a:prstGeom>
        </p:spPr>
      </p:pic>
    </p:spTree>
    <p:extLst>
      <p:ext uri="{BB962C8B-B14F-4D97-AF65-F5344CB8AC3E}">
        <p14:creationId xmlns:p14="http://schemas.microsoft.com/office/powerpoint/2010/main" val="2700456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34A36-622E-CAD5-E0FD-47FEA91F025E}"/>
              </a:ext>
            </a:extLst>
          </p:cNvPr>
          <p:cNvSpPr>
            <a:spLocks noGrp="1"/>
          </p:cNvSpPr>
          <p:nvPr>
            <p:ph type="title"/>
          </p:nvPr>
        </p:nvSpPr>
        <p:spPr>
          <a:xfrm>
            <a:off x="1595283" y="-1171114"/>
            <a:ext cx="10515600" cy="2852737"/>
          </a:xfrm>
        </p:spPr>
        <p:txBody>
          <a:bodyPr/>
          <a:lstStyle/>
          <a:p>
            <a:r>
              <a:rPr lang="en-US" sz="3200" dirty="0">
                <a:latin typeface="Baskerville Old Face" panose="02020602080505020303" pitchFamily="18" charset="0"/>
              </a:rPr>
              <a:t>12.On which dates were the most orders placed? </a:t>
            </a:r>
            <a:r>
              <a:rPr lang="en-IN" dirty="0"/>
              <a:t>				</a:t>
            </a:r>
          </a:p>
        </p:txBody>
      </p:sp>
      <p:pic>
        <p:nvPicPr>
          <p:cNvPr id="5" name="Picture 4">
            <a:extLst>
              <a:ext uri="{FF2B5EF4-FFF2-40B4-BE49-F238E27FC236}">
                <a16:creationId xmlns:a16="http://schemas.microsoft.com/office/drawing/2014/main" id="{1C784FDF-A893-5AF1-4A6E-434988B95587}"/>
              </a:ext>
            </a:extLst>
          </p:cNvPr>
          <p:cNvPicPr>
            <a:picLocks noChangeAspect="1"/>
          </p:cNvPicPr>
          <p:nvPr/>
        </p:nvPicPr>
        <p:blipFill>
          <a:blip r:embed="rId2"/>
          <a:stretch>
            <a:fillRect/>
          </a:stretch>
        </p:blipFill>
        <p:spPr>
          <a:xfrm>
            <a:off x="2488615" y="924280"/>
            <a:ext cx="4658375" cy="1514686"/>
          </a:xfrm>
          <a:prstGeom prst="rect">
            <a:avLst/>
          </a:prstGeom>
        </p:spPr>
      </p:pic>
      <p:pic>
        <p:nvPicPr>
          <p:cNvPr id="7" name="Picture 6">
            <a:extLst>
              <a:ext uri="{FF2B5EF4-FFF2-40B4-BE49-F238E27FC236}">
                <a16:creationId xmlns:a16="http://schemas.microsoft.com/office/drawing/2014/main" id="{A3C6EB0A-588B-F750-EF91-0BDB3652BFA8}"/>
              </a:ext>
            </a:extLst>
          </p:cNvPr>
          <p:cNvPicPr>
            <a:picLocks noChangeAspect="1"/>
          </p:cNvPicPr>
          <p:nvPr/>
        </p:nvPicPr>
        <p:blipFill>
          <a:blip r:embed="rId3"/>
          <a:stretch>
            <a:fillRect/>
          </a:stretch>
        </p:blipFill>
        <p:spPr>
          <a:xfrm>
            <a:off x="8040321" y="2518809"/>
            <a:ext cx="1991003" cy="562053"/>
          </a:xfrm>
          <a:prstGeom prst="rect">
            <a:avLst/>
          </a:prstGeom>
        </p:spPr>
      </p:pic>
      <p:sp>
        <p:nvSpPr>
          <p:cNvPr id="8" name="TextBox 7">
            <a:extLst>
              <a:ext uri="{FF2B5EF4-FFF2-40B4-BE49-F238E27FC236}">
                <a16:creationId xmlns:a16="http://schemas.microsoft.com/office/drawing/2014/main" id="{39F56DB4-C7A4-9608-6EE6-360C3A75482F}"/>
              </a:ext>
            </a:extLst>
          </p:cNvPr>
          <p:cNvSpPr txBox="1"/>
          <p:nvPr/>
        </p:nvSpPr>
        <p:spPr>
          <a:xfrm>
            <a:off x="7277100" y="1995589"/>
            <a:ext cx="1526443"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sp>
        <p:nvSpPr>
          <p:cNvPr id="10" name="TextBox 9">
            <a:extLst>
              <a:ext uri="{FF2B5EF4-FFF2-40B4-BE49-F238E27FC236}">
                <a16:creationId xmlns:a16="http://schemas.microsoft.com/office/drawing/2014/main" id="{FB902923-7544-2401-4E42-B851E992012C}"/>
              </a:ext>
            </a:extLst>
          </p:cNvPr>
          <p:cNvSpPr txBox="1"/>
          <p:nvPr/>
        </p:nvSpPr>
        <p:spPr>
          <a:xfrm>
            <a:off x="1223209" y="3088810"/>
            <a:ext cx="9182275" cy="523220"/>
          </a:xfrm>
          <a:prstGeom prst="rect">
            <a:avLst/>
          </a:prstGeom>
          <a:noFill/>
        </p:spPr>
        <p:txBody>
          <a:bodyPr wrap="square">
            <a:spAutoFit/>
          </a:bodyPr>
          <a:lstStyle/>
          <a:p>
            <a:r>
              <a:rPr lang="en-US" sz="2800" dirty="0">
                <a:latin typeface="Baskerville Old Face" panose="02020602080505020303" pitchFamily="18" charset="0"/>
              </a:rPr>
              <a:t> 13.What are the monthly trends in order volume and revenue?</a:t>
            </a:r>
            <a:endParaRPr lang="en-IN" sz="2800" dirty="0"/>
          </a:p>
        </p:txBody>
      </p:sp>
      <p:pic>
        <p:nvPicPr>
          <p:cNvPr id="12" name="Picture 11">
            <a:extLst>
              <a:ext uri="{FF2B5EF4-FFF2-40B4-BE49-F238E27FC236}">
                <a16:creationId xmlns:a16="http://schemas.microsoft.com/office/drawing/2014/main" id="{49776839-D556-D12B-7B02-BA73A56CC2F0}"/>
              </a:ext>
            </a:extLst>
          </p:cNvPr>
          <p:cNvPicPr>
            <a:picLocks noChangeAspect="1"/>
          </p:cNvPicPr>
          <p:nvPr/>
        </p:nvPicPr>
        <p:blipFill>
          <a:blip r:embed="rId4"/>
          <a:stretch>
            <a:fillRect/>
          </a:stretch>
        </p:blipFill>
        <p:spPr>
          <a:xfrm>
            <a:off x="2212271" y="3730706"/>
            <a:ext cx="6430272" cy="1829055"/>
          </a:xfrm>
          <a:prstGeom prst="rect">
            <a:avLst/>
          </a:prstGeom>
        </p:spPr>
      </p:pic>
      <p:sp>
        <p:nvSpPr>
          <p:cNvPr id="13" name="TextBox 12">
            <a:extLst>
              <a:ext uri="{FF2B5EF4-FFF2-40B4-BE49-F238E27FC236}">
                <a16:creationId xmlns:a16="http://schemas.microsoft.com/office/drawing/2014/main" id="{ECCC9533-BB34-079B-4029-8A542FA18E34}"/>
              </a:ext>
            </a:extLst>
          </p:cNvPr>
          <p:cNvSpPr txBox="1"/>
          <p:nvPr/>
        </p:nvSpPr>
        <p:spPr>
          <a:xfrm>
            <a:off x="4909288" y="5466524"/>
            <a:ext cx="2074607"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5" name="Picture 14">
            <a:extLst>
              <a:ext uri="{FF2B5EF4-FFF2-40B4-BE49-F238E27FC236}">
                <a16:creationId xmlns:a16="http://schemas.microsoft.com/office/drawing/2014/main" id="{CDB6D50F-85D5-ACD0-6A2A-78A8F82A5562}"/>
              </a:ext>
            </a:extLst>
          </p:cNvPr>
          <p:cNvPicPr>
            <a:picLocks noChangeAspect="1"/>
          </p:cNvPicPr>
          <p:nvPr/>
        </p:nvPicPr>
        <p:blipFill>
          <a:blip r:embed="rId5"/>
          <a:stretch>
            <a:fillRect/>
          </a:stretch>
        </p:blipFill>
        <p:spPr>
          <a:xfrm>
            <a:off x="5101018" y="6107906"/>
            <a:ext cx="2695951" cy="581106"/>
          </a:xfrm>
          <a:prstGeom prst="rect">
            <a:avLst/>
          </a:prstGeom>
        </p:spPr>
      </p:pic>
    </p:spTree>
    <p:extLst>
      <p:ext uri="{BB962C8B-B14F-4D97-AF65-F5344CB8AC3E}">
        <p14:creationId xmlns:p14="http://schemas.microsoft.com/office/powerpoint/2010/main" val="1526972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4ADA3-732E-04E1-C3FD-0DD379519188}"/>
              </a:ext>
            </a:extLst>
          </p:cNvPr>
          <p:cNvSpPr>
            <a:spLocks noGrp="1"/>
          </p:cNvSpPr>
          <p:nvPr>
            <p:ph type="title"/>
          </p:nvPr>
        </p:nvSpPr>
        <p:spPr>
          <a:xfrm>
            <a:off x="713863" y="-1976284"/>
            <a:ext cx="10515600" cy="2852737"/>
          </a:xfrm>
        </p:spPr>
        <p:txBody>
          <a:bodyPr>
            <a:normAutofit/>
          </a:bodyPr>
          <a:lstStyle/>
          <a:p>
            <a:r>
              <a:rPr lang="en-US" sz="3200" dirty="0">
                <a:latin typeface="Baskerville Old Face" panose="02020602080505020303" pitchFamily="18" charset="0"/>
              </a:rPr>
              <a:t>14.How do order patterns vary across weekdays and months?</a:t>
            </a:r>
            <a:endParaRPr lang="en-IN" sz="3200" dirty="0">
              <a:latin typeface="Baskerville Old Face" panose="02020602080505020303" pitchFamily="18" charset="0"/>
            </a:endParaRPr>
          </a:p>
        </p:txBody>
      </p:sp>
      <p:pic>
        <p:nvPicPr>
          <p:cNvPr id="10" name="Picture 9">
            <a:extLst>
              <a:ext uri="{FF2B5EF4-FFF2-40B4-BE49-F238E27FC236}">
                <a16:creationId xmlns:a16="http://schemas.microsoft.com/office/drawing/2014/main" id="{AAA5A8C7-F405-F6FF-98CB-F6EE970436B2}"/>
              </a:ext>
            </a:extLst>
          </p:cNvPr>
          <p:cNvPicPr>
            <a:picLocks noChangeAspect="1"/>
          </p:cNvPicPr>
          <p:nvPr/>
        </p:nvPicPr>
        <p:blipFill>
          <a:blip r:embed="rId2"/>
          <a:stretch>
            <a:fillRect/>
          </a:stretch>
        </p:blipFill>
        <p:spPr>
          <a:xfrm>
            <a:off x="2453356" y="1151965"/>
            <a:ext cx="5830114" cy="2581635"/>
          </a:xfrm>
          <a:prstGeom prst="rect">
            <a:avLst/>
          </a:prstGeom>
        </p:spPr>
      </p:pic>
      <p:sp>
        <p:nvSpPr>
          <p:cNvPr id="11" name="TextBox 10">
            <a:extLst>
              <a:ext uri="{FF2B5EF4-FFF2-40B4-BE49-F238E27FC236}">
                <a16:creationId xmlns:a16="http://schemas.microsoft.com/office/drawing/2014/main" id="{D42F1A0D-45E6-0F0C-08E0-ACCBA76E8B70}"/>
              </a:ext>
            </a:extLst>
          </p:cNvPr>
          <p:cNvSpPr txBox="1"/>
          <p:nvPr/>
        </p:nvSpPr>
        <p:spPr>
          <a:xfrm>
            <a:off x="4866967" y="4009113"/>
            <a:ext cx="2064774"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3" name="Picture 12">
            <a:extLst>
              <a:ext uri="{FF2B5EF4-FFF2-40B4-BE49-F238E27FC236}">
                <a16:creationId xmlns:a16="http://schemas.microsoft.com/office/drawing/2014/main" id="{C41983FC-0EC7-60F4-DA57-D57FE7D7D67A}"/>
              </a:ext>
            </a:extLst>
          </p:cNvPr>
          <p:cNvPicPr>
            <a:picLocks noChangeAspect="1"/>
          </p:cNvPicPr>
          <p:nvPr/>
        </p:nvPicPr>
        <p:blipFill>
          <a:blip r:embed="rId3"/>
          <a:stretch>
            <a:fillRect/>
          </a:stretch>
        </p:blipFill>
        <p:spPr>
          <a:xfrm>
            <a:off x="4264233" y="4796555"/>
            <a:ext cx="2876951" cy="543001"/>
          </a:xfrm>
          <a:prstGeom prst="rect">
            <a:avLst/>
          </a:prstGeom>
        </p:spPr>
      </p:pic>
    </p:spTree>
    <p:extLst>
      <p:ext uri="{BB962C8B-B14F-4D97-AF65-F5344CB8AC3E}">
        <p14:creationId xmlns:p14="http://schemas.microsoft.com/office/powerpoint/2010/main" val="1891977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320D5-D3EE-8743-AB78-5B40208A6A70}"/>
              </a:ext>
            </a:extLst>
          </p:cNvPr>
          <p:cNvSpPr>
            <a:spLocks noGrp="1"/>
          </p:cNvSpPr>
          <p:nvPr>
            <p:ph type="title"/>
          </p:nvPr>
        </p:nvSpPr>
        <p:spPr>
          <a:xfrm>
            <a:off x="1474838" y="-70414"/>
            <a:ext cx="10393721" cy="838764"/>
          </a:xfrm>
        </p:spPr>
        <p:txBody>
          <a:bodyPr>
            <a:normAutofit/>
          </a:bodyPr>
          <a:lstStyle/>
          <a:p>
            <a:r>
              <a:rPr lang="en-US" sz="3200" dirty="0">
                <a:latin typeface="Baskerville Old Face" panose="02020602080505020303" pitchFamily="18" charset="0"/>
              </a:rPr>
              <a:t>15.How many suppliers are there in the database?</a:t>
            </a:r>
            <a:endParaRPr lang="en-IN" sz="3200" dirty="0">
              <a:latin typeface="Baskerville Old Face" panose="02020602080505020303" pitchFamily="18" charset="0"/>
            </a:endParaRPr>
          </a:p>
        </p:txBody>
      </p:sp>
      <p:pic>
        <p:nvPicPr>
          <p:cNvPr id="11" name="Picture 10">
            <a:extLst>
              <a:ext uri="{FF2B5EF4-FFF2-40B4-BE49-F238E27FC236}">
                <a16:creationId xmlns:a16="http://schemas.microsoft.com/office/drawing/2014/main" id="{9633ED23-4F43-DE78-7785-0FDD4706C162}"/>
              </a:ext>
            </a:extLst>
          </p:cNvPr>
          <p:cNvPicPr>
            <a:picLocks noChangeAspect="1"/>
          </p:cNvPicPr>
          <p:nvPr/>
        </p:nvPicPr>
        <p:blipFill>
          <a:blip r:embed="rId3"/>
          <a:stretch>
            <a:fillRect/>
          </a:stretch>
        </p:blipFill>
        <p:spPr>
          <a:xfrm>
            <a:off x="2600879" y="883469"/>
            <a:ext cx="3077004" cy="590632"/>
          </a:xfrm>
          <a:prstGeom prst="rect">
            <a:avLst/>
          </a:prstGeom>
        </p:spPr>
      </p:pic>
      <p:sp>
        <p:nvSpPr>
          <p:cNvPr id="12" name="TextBox 11">
            <a:extLst>
              <a:ext uri="{FF2B5EF4-FFF2-40B4-BE49-F238E27FC236}">
                <a16:creationId xmlns:a16="http://schemas.microsoft.com/office/drawing/2014/main" id="{910106E3-3DBB-0EDE-57F5-F2A82954E915}"/>
              </a:ext>
            </a:extLst>
          </p:cNvPr>
          <p:cNvSpPr txBox="1"/>
          <p:nvPr/>
        </p:nvSpPr>
        <p:spPr>
          <a:xfrm>
            <a:off x="4880282" y="1532810"/>
            <a:ext cx="1209368"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4" name="Picture 13">
            <a:extLst>
              <a:ext uri="{FF2B5EF4-FFF2-40B4-BE49-F238E27FC236}">
                <a16:creationId xmlns:a16="http://schemas.microsoft.com/office/drawing/2014/main" id="{04AD6CF6-9C0E-8330-42B8-7611CE52AB65}"/>
              </a:ext>
            </a:extLst>
          </p:cNvPr>
          <p:cNvPicPr>
            <a:picLocks noChangeAspect="1"/>
          </p:cNvPicPr>
          <p:nvPr/>
        </p:nvPicPr>
        <p:blipFill>
          <a:blip r:embed="rId4"/>
          <a:stretch>
            <a:fillRect/>
          </a:stretch>
        </p:blipFill>
        <p:spPr>
          <a:xfrm>
            <a:off x="5484966" y="2141321"/>
            <a:ext cx="1438476" cy="504895"/>
          </a:xfrm>
          <a:prstGeom prst="rect">
            <a:avLst/>
          </a:prstGeom>
        </p:spPr>
      </p:pic>
      <p:sp>
        <p:nvSpPr>
          <p:cNvPr id="16" name="TextBox 15">
            <a:extLst>
              <a:ext uri="{FF2B5EF4-FFF2-40B4-BE49-F238E27FC236}">
                <a16:creationId xmlns:a16="http://schemas.microsoft.com/office/drawing/2014/main" id="{2C634AF0-E506-661E-71E8-26E9A8CBCEB9}"/>
              </a:ext>
            </a:extLst>
          </p:cNvPr>
          <p:cNvSpPr txBox="1"/>
          <p:nvPr/>
        </p:nvSpPr>
        <p:spPr>
          <a:xfrm>
            <a:off x="1568245" y="2786519"/>
            <a:ext cx="7988710" cy="584775"/>
          </a:xfrm>
          <a:prstGeom prst="rect">
            <a:avLst/>
          </a:prstGeom>
          <a:noFill/>
        </p:spPr>
        <p:txBody>
          <a:bodyPr wrap="square">
            <a:spAutoFit/>
          </a:bodyPr>
          <a:lstStyle/>
          <a:p>
            <a:r>
              <a:rPr lang="en-US" sz="3200" dirty="0">
                <a:latin typeface="Baskerville Old Face" panose="02020602080505020303" pitchFamily="18" charset="0"/>
              </a:rPr>
              <a:t>16.Which supplier provides the most products?</a:t>
            </a:r>
            <a:endParaRPr lang="en-IN" sz="3200" dirty="0">
              <a:latin typeface="Baskerville Old Face" panose="02020602080505020303" pitchFamily="18" charset="0"/>
            </a:endParaRPr>
          </a:p>
        </p:txBody>
      </p:sp>
      <p:pic>
        <p:nvPicPr>
          <p:cNvPr id="18" name="Picture 17">
            <a:extLst>
              <a:ext uri="{FF2B5EF4-FFF2-40B4-BE49-F238E27FC236}">
                <a16:creationId xmlns:a16="http://schemas.microsoft.com/office/drawing/2014/main" id="{C2D6757A-1A54-EB3B-BCAD-1C124ACC7D2D}"/>
              </a:ext>
            </a:extLst>
          </p:cNvPr>
          <p:cNvPicPr>
            <a:picLocks noChangeAspect="1"/>
          </p:cNvPicPr>
          <p:nvPr/>
        </p:nvPicPr>
        <p:blipFill>
          <a:blip r:embed="rId5"/>
          <a:stretch>
            <a:fillRect/>
          </a:stretch>
        </p:blipFill>
        <p:spPr>
          <a:xfrm>
            <a:off x="2690341" y="3486707"/>
            <a:ext cx="4477375" cy="1448002"/>
          </a:xfrm>
          <a:prstGeom prst="rect">
            <a:avLst/>
          </a:prstGeom>
        </p:spPr>
      </p:pic>
      <p:sp>
        <p:nvSpPr>
          <p:cNvPr id="19" name="TextBox 18">
            <a:extLst>
              <a:ext uri="{FF2B5EF4-FFF2-40B4-BE49-F238E27FC236}">
                <a16:creationId xmlns:a16="http://schemas.microsoft.com/office/drawing/2014/main" id="{E502F389-96F4-5B57-211B-45750FEF5F35}"/>
              </a:ext>
            </a:extLst>
          </p:cNvPr>
          <p:cNvSpPr txBox="1"/>
          <p:nvPr/>
        </p:nvSpPr>
        <p:spPr>
          <a:xfrm>
            <a:off x="5820697" y="5050122"/>
            <a:ext cx="1347019" cy="523220"/>
          </a:xfrm>
          <a:prstGeom prst="rect">
            <a:avLst/>
          </a:prstGeom>
          <a:noFill/>
        </p:spPr>
        <p:txBody>
          <a:bodyPr wrap="square" rtlCol="0">
            <a:spAutoFit/>
          </a:bodyPr>
          <a:lstStyle/>
          <a:p>
            <a:r>
              <a:rPr lang="en-IN" sz="2800" dirty="0"/>
              <a:t>output</a:t>
            </a:r>
          </a:p>
        </p:txBody>
      </p:sp>
      <p:pic>
        <p:nvPicPr>
          <p:cNvPr id="21" name="Picture 20">
            <a:extLst>
              <a:ext uri="{FF2B5EF4-FFF2-40B4-BE49-F238E27FC236}">
                <a16:creationId xmlns:a16="http://schemas.microsoft.com/office/drawing/2014/main" id="{F88C11A4-5510-7BCD-8E99-8D8AF5AF40AE}"/>
              </a:ext>
            </a:extLst>
          </p:cNvPr>
          <p:cNvPicPr>
            <a:picLocks noChangeAspect="1"/>
          </p:cNvPicPr>
          <p:nvPr/>
        </p:nvPicPr>
        <p:blipFill>
          <a:blip r:embed="rId6"/>
          <a:stretch>
            <a:fillRect/>
          </a:stretch>
        </p:blipFill>
        <p:spPr>
          <a:xfrm>
            <a:off x="6029319" y="5688755"/>
            <a:ext cx="2276793" cy="581106"/>
          </a:xfrm>
          <a:prstGeom prst="rect">
            <a:avLst/>
          </a:prstGeom>
        </p:spPr>
      </p:pic>
    </p:spTree>
    <p:extLst>
      <p:ext uri="{BB962C8B-B14F-4D97-AF65-F5344CB8AC3E}">
        <p14:creationId xmlns:p14="http://schemas.microsoft.com/office/powerpoint/2010/main" val="1824188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AB7A-B2A3-AC74-E176-9E19D3327EA7}"/>
              </a:ext>
            </a:extLst>
          </p:cNvPr>
          <p:cNvSpPr>
            <a:spLocks noGrp="1"/>
          </p:cNvSpPr>
          <p:nvPr>
            <p:ph type="title"/>
          </p:nvPr>
        </p:nvSpPr>
        <p:spPr>
          <a:xfrm>
            <a:off x="831850" y="3459239"/>
            <a:ext cx="11065183" cy="943107"/>
          </a:xfrm>
        </p:spPr>
        <p:txBody>
          <a:bodyPr>
            <a:noAutofit/>
          </a:bodyPr>
          <a:lstStyle/>
          <a:p>
            <a:r>
              <a:rPr lang="en-US" sz="3200" dirty="0">
                <a:latin typeface="Baskerville Old Face" panose="02020602080505020303" pitchFamily="18" charset="0"/>
              </a:rPr>
              <a:t>18.Which suppliers contribute the most to total product sales (by revenue)</a:t>
            </a:r>
            <a:endParaRPr lang="en-IN" sz="3200" dirty="0">
              <a:latin typeface="Baskerville Old Face" panose="02020602080505020303" pitchFamily="18" charset="0"/>
            </a:endParaRPr>
          </a:p>
        </p:txBody>
      </p:sp>
      <p:sp>
        <p:nvSpPr>
          <p:cNvPr id="5" name="TextBox 4">
            <a:extLst>
              <a:ext uri="{FF2B5EF4-FFF2-40B4-BE49-F238E27FC236}">
                <a16:creationId xmlns:a16="http://schemas.microsoft.com/office/drawing/2014/main" id="{D184C6F6-79FB-DB8B-F7B3-4DB4024EF9A3}"/>
              </a:ext>
            </a:extLst>
          </p:cNvPr>
          <p:cNvSpPr txBox="1"/>
          <p:nvPr/>
        </p:nvSpPr>
        <p:spPr>
          <a:xfrm>
            <a:off x="831850" y="183575"/>
            <a:ext cx="11360150" cy="584775"/>
          </a:xfrm>
          <a:prstGeom prst="rect">
            <a:avLst/>
          </a:prstGeom>
          <a:noFill/>
        </p:spPr>
        <p:txBody>
          <a:bodyPr wrap="square">
            <a:spAutoFit/>
          </a:bodyPr>
          <a:lstStyle/>
          <a:p>
            <a:r>
              <a:rPr lang="en-US" sz="3200" dirty="0">
                <a:latin typeface="Baskerville Old Face" panose="02020602080505020303" pitchFamily="18" charset="0"/>
              </a:rPr>
              <a:t>17.What is the average price of products from each supplier?</a:t>
            </a:r>
            <a:endParaRPr lang="en-IN" sz="32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375F01F8-DCC7-8DC6-DF2C-6A5F0565F0CC}"/>
              </a:ext>
            </a:extLst>
          </p:cNvPr>
          <p:cNvPicPr>
            <a:picLocks noChangeAspect="1"/>
          </p:cNvPicPr>
          <p:nvPr/>
        </p:nvPicPr>
        <p:blipFill>
          <a:blip r:embed="rId2"/>
          <a:stretch>
            <a:fillRect/>
          </a:stretch>
        </p:blipFill>
        <p:spPr>
          <a:xfrm>
            <a:off x="2471577" y="785280"/>
            <a:ext cx="4515480" cy="943107"/>
          </a:xfrm>
          <a:prstGeom prst="rect">
            <a:avLst/>
          </a:prstGeom>
        </p:spPr>
      </p:pic>
      <p:sp>
        <p:nvSpPr>
          <p:cNvPr id="8" name="TextBox 7">
            <a:extLst>
              <a:ext uri="{FF2B5EF4-FFF2-40B4-BE49-F238E27FC236}">
                <a16:creationId xmlns:a16="http://schemas.microsoft.com/office/drawing/2014/main" id="{C8CDED44-8AA9-A292-F77D-312AB96D519D}"/>
              </a:ext>
            </a:extLst>
          </p:cNvPr>
          <p:cNvSpPr txBox="1"/>
          <p:nvPr/>
        </p:nvSpPr>
        <p:spPr>
          <a:xfrm>
            <a:off x="6862916" y="1611698"/>
            <a:ext cx="1592826"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0" name="Picture 9">
            <a:extLst>
              <a:ext uri="{FF2B5EF4-FFF2-40B4-BE49-F238E27FC236}">
                <a16:creationId xmlns:a16="http://schemas.microsoft.com/office/drawing/2014/main" id="{01C56CB4-71A7-8B83-FDF1-52B157CDD44B}"/>
              </a:ext>
            </a:extLst>
          </p:cNvPr>
          <p:cNvPicPr>
            <a:picLocks noChangeAspect="1"/>
          </p:cNvPicPr>
          <p:nvPr/>
        </p:nvPicPr>
        <p:blipFill>
          <a:blip r:embed="rId3"/>
          <a:stretch>
            <a:fillRect/>
          </a:stretch>
        </p:blipFill>
        <p:spPr>
          <a:xfrm>
            <a:off x="7137615" y="2134918"/>
            <a:ext cx="2124371" cy="1362265"/>
          </a:xfrm>
          <a:prstGeom prst="rect">
            <a:avLst/>
          </a:prstGeom>
        </p:spPr>
      </p:pic>
      <p:pic>
        <p:nvPicPr>
          <p:cNvPr id="12" name="Picture 11">
            <a:extLst>
              <a:ext uri="{FF2B5EF4-FFF2-40B4-BE49-F238E27FC236}">
                <a16:creationId xmlns:a16="http://schemas.microsoft.com/office/drawing/2014/main" id="{D7C65809-EAC7-0404-1498-D7C4899635F2}"/>
              </a:ext>
            </a:extLst>
          </p:cNvPr>
          <p:cNvPicPr>
            <a:picLocks noChangeAspect="1"/>
          </p:cNvPicPr>
          <p:nvPr/>
        </p:nvPicPr>
        <p:blipFill>
          <a:blip r:embed="rId4"/>
          <a:stretch>
            <a:fillRect/>
          </a:stretch>
        </p:blipFill>
        <p:spPr>
          <a:xfrm>
            <a:off x="2147682" y="4402346"/>
            <a:ext cx="4839375" cy="1428949"/>
          </a:xfrm>
          <a:prstGeom prst="rect">
            <a:avLst/>
          </a:prstGeom>
        </p:spPr>
      </p:pic>
      <p:sp>
        <p:nvSpPr>
          <p:cNvPr id="13" name="TextBox 12">
            <a:extLst>
              <a:ext uri="{FF2B5EF4-FFF2-40B4-BE49-F238E27FC236}">
                <a16:creationId xmlns:a16="http://schemas.microsoft.com/office/drawing/2014/main" id="{02540576-4195-EDE2-A58E-062962230476}"/>
              </a:ext>
            </a:extLst>
          </p:cNvPr>
          <p:cNvSpPr txBox="1"/>
          <p:nvPr/>
        </p:nvSpPr>
        <p:spPr>
          <a:xfrm>
            <a:off x="7659329" y="4247812"/>
            <a:ext cx="1533832"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5" name="Picture 14">
            <a:extLst>
              <a:ext uri="{FF2B5EF4-FFF2-40B4-BE49-F238E27FC236}">
                <a16:creationId xmlns:a16="http://schemas.microsoft.com/office/drawing/2014/main" id="{B44E3FEC-D077-02E4-BE4D-307568FEABFE}"/>
              </a:ext>
            </a:extLst>
          </p:cNvPr>
          <p:cNvPicPr>
            <a:picLocks noChangeAspect="1"/>
          </p:cNvPicPr>
          <p:nvPr/>
        </p:nvPicPr>
        <p:blipFill>
          <a:blip r:embed="rId5"/>
          <a:stretch>
            <a:fillRect/>
          </a:stretch>
        </p:blipFill>
        <p:spPr>
          <a:xfrm>
            <a:off x="7659329" y="4821504"/>
            <a:ext cx="2133898" cy="1352739"/>
          </a:xfrm>
          <a:prstGeom prst="rect">
            <a:avLst/>
          </a:prstGeom>
        </p:spPr>
      </p:pic>
    </p:spTree>
    <p:extLst>
      <p:ext uri="{BB962C8B-B14F-4D97-AF65-F5344CB8AC3E}">
        <p14:creationId xmlns:p14="http://schemas.microsoft.com/office/powerpoint/2010/main" val="1749021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8509-48FE-BB75-27A7-4A90C2A76B53}"/>
              </a:ext>
            </a:extLst>
          </p:cNvPr>
          <p:cNvSpPr>
            <a:spLocks noGrp="1"/>
          </p:cNvSpPr>
          <p:nvPr>
            <p:ph type="title"/>
          </p:nvPr>
        </p:nvSpPr>
        <p:spPr>
          <a:xfrm>
            <a:off x="1494504" y="2586307"/>
            <a:ext cx="10098752" cy="727163"/>
          </a:xfrm>
        </p:spPr>
        <p:txBody>
          <a:bodyPr/>
          <a:lstStyle/>
          <a:p>
            <a:r>
              <a:rPr lang="en-US" sz="3200" dirty="0">
                <a:latin typeface="Baskerville Old Face" panose="02020602080505020303" pitchFamily="18" charset="0"/>
              </a:rPr>
              <a:t>20.Which employees have handled the most orders?</a:t>
            </a:r>
            <a:endParaRPr lang="en-IN" dirty="0"/>
          </a:p>
        </p:txBody>
      </p:sp>
      <p:sp>
        <p:nvSpPr>
          <p:cNvPr id="5" name="TextBox 4">
            <a:extLst>
              <a:ext uri="{FF2B5EF4-FFF2-40B4-BE49-F238E27FC236}">
                <a16:creationId xmlns:a16="http://schemas.microsoft.com/office/drawing/2014/main" id="{7C0B9943-F10A-BACE-1EF7-07F57D1DFE83}"/>
              </a:ext>
            </a:extLst>
          </p:cNvPr>
          <p:cNvSpPr txBox="1"/>
          <p:nvPr/>
        </p:nvSpPr>
        <p:spPr>
          <a:xfrm>
            <a:off x="1838632" y="91919"/>
            <a:ext cx="8888361" cy="584775"/>
          </a:xfrm>
          <a:prstGeom prst="rect">
            <a:avLst/>
          </a:prstGeom>
          <a:noFill/>
        </p:spPr>
        <p:txBody>
          <a:bodyPr wrap="square">
            <a:spAutoFit/>
          </a:bodyPr>
          <a:lstStyle/>
          <a:p>
            <a:r>
              <a:rPr lang="en-US" sz="3200" dirty="0">
                <a:latin typeface="Baskerville Old Face" panose="02020602080505020303" pitchFamily="18" charset="0"/>
              </a:rPr>
              <a:t>19.How many employees have processed orders? </a:t>
            </a:r>
            <a:endParaRPr lang="en-IN" sz="32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75F3D245-EFD1-79E8-70A1-FB33F0AA9037}"/>
              </a:ext>
            </a:extLst>
          </p:cNvPr>
          <p:cNvPicPr>
            <a:picLocks noChangeAspect="1"/>
          </p:cNvPicPr>
          <p:nvPr/>
        </p:nvPicPr>
        <p:blipFill>
          <a:blip r:embed="rId2"/>
          <a:stretch>
            <a:fillRect/>
          </a:stretch>
        </p:blipFill>
        <p:spPr>
          <a:xfrm>
            <a:off x="2820949" y="819082"/>
            <a:ext cx="4229690" cy="584775"/>
          </a:xfrm>
          <a:prstGeom prst="rect">
            <a:avLst/>
          </a:prstGeom>
        </p:spPr>
      </p:pic>
      <p:sp>
        <p:nvSpPr>
          <p:cNvPr id="8" name="TextBox 7">
            <a:extLst>
              <a:ext uri="{FF2B5EF4-FFF2-40B4-BE49-F238E27FC236}">
                <a16:creationId xmlns:a16="http://schemas.microsoft.com/office/drawing/2014/main" id="{413F0D03-DA85-6F28-5441-993B5D27465B}"/>
              </a:ext>
            </a:extLst>
          </p:cNvPr>
          <p:cNvSpPr txBox="1"/>
          <p:nvPr/>
        </p:nvSpPr>
        <p:spPr>
          <a:xfrm>
            <a:off x="4503172" y="1448128"/>
            <a:ext cx="1494504"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2" name="Picture 11">
            <a:extLst>
              <a:ext uri="{FF2B5EF4-FFF2-40B4-BE49-F238E27FC236}">
                <a16:creationId xmlns:a16="http://schemas.microsoft.com/office/drawing/2014/main" id="{B506EFC0-5266-9AF9-DC0F-F6F7BEAEA4AD}"/>
              </a:ext>
            </a:extLst>
          </p:cNvPr>
          <p:cNvPicPr>
            <a:picLocks noChangeAspect="1"/>
          </p:cNvPicPr>
          <p:nvPr/>
        </p:nvPicPr>
        <p:blipFill>
          <a:blip r:embed="rId3"/>
          <a:stretch>
            <a:fillRect/>
          </a:stretch>
        </p:blipFill>
        <p:spPr>
          <a:xfrm>
            <a:off x="4378765" y="1956694"/>
            <a:ext cx="1743318" cy="552527"/>
          </a:xfrm>
          <a:prstGeom prst="rect">
            <a:avLst/>
          </a:prstGeom>
        </p:spPr>
      </p:pic>
      <p:pic>
        <p:nvPicPr>
          <p:cNvPr id="14" name="Picture 13">
            <a:extLst>
              <a:ext uri="{FF2B5EF4-FFF2-40B4-BE49-F238E27FC236}">
                <a16:creationId xmlns:a16="http://schemas.microsoft.com/office/drawing/2014/main" id="{0EB51468-F45D-DBDF-EDA1-FA002BCB5CC7}"/>
              </a:ext>
            </a:extLst>
          </p:cNvPr>
          <p:cNvPicPr>
            <a:picLocks noChangeAspect="1"/>
          </p:cNvPicPr>
          <p:nvPr/>
        </p:nvPicPr>
        <p:blipFill>
          <a:blip r:embed="rId4"/>
          <a:stretch>
            <a:fillRect/>
          </a:stretch>
        </p:blipFill>
        <p:spPr>
          <a:xfrm>
            <a:off x="3168179" y="3449965"/>
            <a:ext cx="3810532" cy="1238423"/>
          </a:xfrm>
          <a:prstGeom prst="rect">
            <a:avLst/>
          </a:prstGeom>
        </p:spPr>
      </p:pic>
      <p:sp>
        <p:nvSpPr>
          <p:cNvPr id="15" name="TextBox 14">
            <a:extLst>
              <a:ext uri="{FF2B5EF4-FFF2-40B4-BE49-F238E27FC236}">
                <a16:creationId xmlns:a16="http://schemas.microsoft.com/office/drawing/2014/main" id="{4C11CEC0-DC25-3AD9-BE0F-D99DAA018364}"/>
              </a:ext>
            </a:extLst>
          </p:cNvPr>
          <p:cNvSpPr txBox="1"/>
          <p:nvPr/>
        </p:nvSpPr>
        <p:spPr>
          <a:xfrm>
            <a:off x="8183849" y="3480349"/>
            <a:ext cx="1245287"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pic>
        <p:nvPicPr>
          <p:cNvPr id="17" name="Picture 16">
            <a:extLst>
              <a:ext uri="{FF2B5EF4-FFF2-40B4-BE49-F238E27FC236}">
                <a16:creationId xmlns:a16="http://schemas.microsoft.com/office/drawing/2014/main" id="{2EDCC7DA-2C8A-ABFE-1A35-7FC220DF9271}"/>
              </a:ext>
            </a:extLst>
          </p:cNvPr>
          <p:cNvPicPr>
            <a:picLocks noChangeAspect="1"/>
          </p:cNvPicPr>
          <p:nvPr/>
        </p:nvPicPr>
        <p:blipFill>
          <a:blip r:embed="rId5"/>
          <a:stretch>
            <a:fillRect/>
          </a:stretch>
        </p:blipFill>
        <p:spPr>
          <a:xfrm>
            <a:off x="8269200" y="4003569"/>
            <a:ext cx="2457793" cy="2257740"/>
          </a:xfrm>
          <a:prstGeom prst="rect">
            <a:avLst/>
          </a:prstGeom>
        </p:spPr>
      </p:pic>
    </p:spTree>
    <p:extLst>
      <p:ext uri="{BB962C8B-B14F-4D97-AF65-F5344CB8AC3E}">
        <p14:creationId xmlns:p14="http://schemas.microsoft.com/office/powerpoint/2010/main" val="27018155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6E0BA-268F-17C7-BDA9-CE4FD941B4CB}"/>
              </a:ext>
            </a:extLst>
          </p:cNvPr>
          <p:cNvSpPr>
            <a:spLocks noGrp="1"/>
          </p:cNvSpPr>
          <p:nvPr>
            <p:ph type="title"/>
          </p:nvPr>
        </p:nvSpPr>
        <p:spPr>
          <a:xfrm>
            <a:off x="8239431" y="1141319"/>
            <a:ext cx="1122493" cy="350012"/>
          </a:xfrm>
        </p:spPr>
        <p:txBody>
          <a:bodyPr>
            <a:normAutofit fontScale="90000"/>
          </a:bodyPr>
          <a:lstStyle/>
          <a:p>
            <a:r>
              <a:rPr lang="en-IN" sz="2800" dirty="0">
                <a:latin typeface="Baskerville Old Face" panose="02020602080505020303" pitchFamily="18" charset="0"/>
              </a:rPr>
              <a:t>output</a:t>
            </a:r>
          </a:p>
        </p:txBody>
      </p:sp>
      <p:sp>
        <p:nvSpPr>
          <p:cNvPr id="5" name="TextBox 4">
            <a:extLst>
              <a:ext uri="{FF2B5EF4-FFF2-40B4-BE49-F238E27FC236}">
                <a16:creationId xmlns:a16="http://schemas.microsoft.com/office/drawing/2014/main" id="{A79CA4B9-2DC2-C540-C113-FEC0EE995C60}"/>
              </a:ext>
            </a:extLst>
          </p:cNvPr>
          <p:cNvSpPr txBox="1"/>
          <p:nvPr/>
        </p:nvSpPr>
        <p:spPr>
          <a:xfrm>
            <a:off x="1089947" y="286895"/>
            <a:ext cx="9999406" cy="584775"/>
          </a:xfrm>
          <a:prstGeom prst="rect">
            <a:avLst/>
          </a:prstGeom>
          <a:noFill/>
        </p:spPr>
        <p:txBody>
          <a:bodyPr wrap="square">
            <a:spAutoFit/>
          </a:bodyPr>
          <a:lstStyle/>
          <a:p>
            <a:r>
              <a:rPr lang="en-US" sz="3200" dirty="0">
                <a:latin typeface="Baskerville Old Face" panose="02020602080505020303" pitchFamily="18" charset="0"/>
              </a:rPr>
              <a:t>21.What is the total sales value processed by each employee?</a:t>
            </a:r>
            <a:endParaRPr lang="en-IN" sz="32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2CDDABC1-CF6A-313A-3D1A-8584BA842FF7}"/>
              </a:ext>
            </a:extLst>
          </p:cNvPr>
          <p:cNvPicPr>
            <a:picLocks noChangeAspect="1"/>
          </p:cNvPicPr>
          <p:nvPr/>
        </p:nvPicPr>
        <p:blipFill>
          <a:blip r:embed="rId2"/>
          <a:stretch>
            <a:fillRect/>
          </a:stretch>
        </p:blipFill>
        <p:spPr>
          <a:xfrm>
            <a:off x="2128933" y="1316325"/>
            <a:ext cx="5220429" cy="1686160"/>
          </a:xfrm>
          <a:prstGeom prst="rect">
            <a:avLst/>
          </a:prstGeom>
        </p:spPr>
      </p:pic>
      <p:pic>
        <p:nvPicPr>
          <p:cNvPr id="9" name="Picture 8">
            <a:extLst>
              <a:ext uri="{FF2B5EF4-FFF2-40B4-BE49-F238E27FC236}">
                <a16:creationId xmlns:a16="http://schemas.microsoft.com/office/drawing/2014/main" id="{52778C8B-3BC1-3430-8BF8-A2278178E9DD}"/>
              </a:ext>
            </a:extLst>
          </p:cNvPr>
          <p:cNvPicPr>
            <a:picLocks noChangeAspect="1"/>
          </p:cNvPicPr>
          <p:nvPr/>
        </p:nvPicPr>
        <p:blipFill>
          <a:blip r:embed="rId3"/>
          <a:stretch>
            <a:fillRect/>
          </a:stretch>
        </p:blipFill>
        <p:spPr>
          <a:xfrm>
            <a:off x="8691717" y="1472826"/>
            <a:ext cx="2216308" cy="1850477"/>
          </a:xfrm>
          <a:prstGeom prst="rect">
            <a:avLst/>
          </a:prstGeom>
        </p:spPr>
      </p:pic>
    </p:spTree>
    <p:extLst>
      <p:ext uri="{BB962C8B-B14F-4D97-AF65-F5344CB8AC3E}">
        <p14:creationId xmlns:p14="http://schemas.microsoft.com/office/powerpoint/2010/main" val="1813495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37842-A4DF-375E-1CA0-5BB2C6AEE1EF}"/>
              </a:ext>
            </a:extLst>
          </p:cNvPr>
          <p:cNvSpPr>
            <a:spLocks noGrp="1"/>
          </p:cNvSpPr>
          <p:nvPr>
            <p:ph type="title"/>
          </p:nvPr>
        </p:nvSpPr>
        <p:spPr>
          <a:xfrm>
            <a:off x="8030086" y="1038552"/>
            <a:ext cx="1310560" cy="452284"/>
          </a:xfrm>
        </p:spPr>
        <p:txBody>
          <a:bodyPr>
            <a:normAutofit fontScale="90000"/>
          </a:bodyPr>
          <a:lstStyle/>
          <a:p>
            <a:r>
              <a:rPr lang="en-IN" sz="2800" dirty="0">
                <a:latin typeface="Baskerville Old Face" panose="02020602080505020303" pitchFamily="18" charset="0"/>
              </a:rPr>
              <a:t>output</a:t>
            </a:r>
          </a:p>
        </p:txBody>
      </p:sp>
      <p:sp>
        <p:nvSpPr>
          <p:cNvPr id="3" name="Text Placeholder 2">
            <a:extLst>
              <a:ext uri="{FF2B5EF4-FFF2-40B4-BE49-F238E27FC236}">
                <a16:creationId xmlns:a16="http://schemas.microsoft.com/office/drawing/2014/main" id="{4784260F-A726-97F7-F68C-2020C81A202E}"/>
              </a:ext>
            </a:extLst>
          </p:cNvPr>
          <p:cNvSpPr>
            <a:spLocks noGrp="1"/>
          </p:cNvSpPr>
          <p:nvPr>
            <p:ph type="body" idx="1"/>
          </p:nvPr>
        </p:nvSpPr>
        <p:spPr>
          <a:xfrm>
            <a:off x="1051565" y="3924395"/>
            <a:ext cx="9865647" cy="700292"/>
          </a:xfrm>
        </p:spPr>
        <p:txBody>
          <a:bodyPr/>
          <a:lstStyle/>
          <a:p>
            <a:r>
              <a:rPr lang="en-US" dirty="0">
                <a:solidFill>
                  <a:schemeClr val="tx1"/>
                </a:solidFill>
                <a:latin typeface="Baskerville Old Face" panose="02020602080505020303" pitchFamily="18" charset="0"/>
              </a:rPr>
              <a:t>23.What is the relationship between quantity ordered and total price? </a:t>
            </a:r>
            <a:endParaRPr lang="en-IN" dirty="0">
              <a:solidFill>
                <a:schemeClr val="tx1"/>
              </a:solidFill>
              <a:latin typeface="Baskerville Old Face" panose="02020602080505020303" pitchFamily="18" charset="0"/>
            </a:endParaRPr>
          </a:p>
          <a:p>
            <a:endParaRPr lang="en-IN" dirty="0">
              <a:solidFill>
                <a:schemeClr val="tx1"/>
              </a:solidFill>
            </a:endParaRPr>
          </a:p>
        </p:txBody>
      </p:sp>
      <p:sp>
        <p:nvSpPr>
          <p:cNvPr id="5" name="TextBox 4">
            <a:extLst>
              <a:ext uri="{FF2B5EF4-FFF2-40B4-BE49-F238E27FC236}">
                <a16:creationId xmlns:a16="http://schemas.microsoft.com/office/drawing/2014/main" id="{F57008DA-CFFC-FC5D-E4D8-2467E34B31C1}"/>
              </a:ext>
            </a:extLst>
          </p:cNvPr>
          <p:cNvSpPr txBox="1"/>
          <p:nvPr/>
        </p:nvSpPr>
        <p:spPr>
          <a:xfrm>
            <a:off x="831849" y="150912"/>
            <a:ext cx="9865647" cy="584775"/>
          </a:xfrm>
          <a:prstGeom prst="rect">
            <a:avLst/>
          </a:prstGeom>
          <a:noFill/>
        </p:spPr>
        <p:txBody>
          <a:bodyPr wrap="square">
            <a:spAutoFit/>
          </a:bodyPr>
          <a:lstStyle/>
          <a:p>
            <a:r>
              <a:rPr lang="en-US" sz="3200" dirty="0">
                <a:latin typeface="Baskerville Old Face" panose="02020602080505020303" pitchFamily="18" charset="0"/>
              </a:rPr>
              <a:t>22.What is the average order value handled per employee?</a:t>
            </a:r>
            <a:endParaRPr lang="en-IN" sz="32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02A8734C-B7A9-EFF5-9D33-DFF18088CCA3}"/>
              </a:ext>
            </a:extLst>
          </p:cNvPr>
          <p:cNvPicPr>
            <a:picLocks noChangeAspect="1"/>
          </p:cNvPicPr>
          <p:nvPr/>
        </p:nvPicPr>
        <p:blipFill>
          <a:blip r:embed="rId3"/>
          <a:stretch>
            <a:fillRect/>
          </a:stretch>
        </p:blipFill>
        <p:spPr>
          <a:xfrm>
            <a:off x="1812011" y="768350"/>
            <a:ext cx="5611008" cy="2165256"/>
          </a:xfrm>
          <a:prstGeom prst="rect">
            <a:avLst/>
          </a:prstGeom>
        </p:spPr>
      </p:pic>
      <p:pic>
        <p:nvPicPr>
          <p:cNvPr id="9" name="Picture 8">
            <a:extLst>
              <a:ext uri="{FF2B5EF4-FFF2-40B4-BE49-F238E27FC236}">
                <a16:creationId xmlns:a16="http://schemas.microsoft.com/office/drawing/2014/main" id="{C5517612-D50D-EC60-F606-A530DDFBDADD}"/>
              </a:ext>
            </a:extLst>
          </p:cNvPr>
          <p:cNvPicPr>
            <a:picLocks noChangeAspect="1"/>
          </p:cNvPicPr>
          <p:nvPr/>
        </p:nvPicPr>
        <p:blipFill>
          <a:blip r:embed="rId4"/>
          <a:stretch>
            <a:fillRect/>
          </a:stretch>
        </p:blipFill>
        <p:spPr>
          <a:xfrm>
            <a:off x="8373682" y="1490836"/>
            <a:ext cx="2543530" cy="2343477"/>
          </a:xfrm>
          <a:prstGeom prst="rect">
            <a:avLst/>
          </a:prstGeom>
        </p:spPr>
      </p:pic>
      <p:pic>
        <p:nvPicPr>
          <p:cNvPr id="11" name="Picture 10">
            <a:extLst>
              <a:ext uri="{FF2B5EF4-FFF2-40B4-BE49-F238E27FC236}">
                <a16:creationId xmlns:a16="http://schemas.microsoft.com/office/drawing/2014/main" id="{A44B0106-9C0D-CBB7-6B35-7ABAE470620F}"/>
              </a:ext>
            </a:extLst>
          </p:cNvPr>
          <p:cNvPicPr>
            <a:picLocks noChangeAspect="1"/>
          </p:cNvPicPr>
          <p:nvPr/>
        </p:nvPicPr>
        <p:blipFill>
          <a:blip r:embed="rId5"/>
          <a:stretch>
            <a:fillRect/>
          </a:stretch>
        </p:blipFill>
        <p:spPr>
          <a:xfrm>
            <a:off x="2709993" y="4624687"/>
            <a:ext cx="2524477" cy="638264"/>
          </a:xfrm>
          <a:prstGeom prst="rect">
            <a:avLst/>
          </a:prstGeom>
        </p:spPr>
      </p:pic>
      <p:pic>
        <p:nvPicPr>
          <p:cNvPr id="13" name="Picture 12">
            <a:extLst>
              <a:ext uri="{FF2B5EF4-FFF2-40B4-BE49-F238E27FC236}">
                <a16:creationId xmlns:a16="http://schemas.microsoft.com/office/drawing/2014/main" id="{18A829B5-BA3E-DA43-BFA1-D5C49E0002CF}"/>
              </a:ext>
            </a:extLst>
          </p:cNvPr>
          <p:cNvPicPr>
            <a:picLocks noChangeAspect="1"/>
          </p:cNvPicPr>
          <p:nvPr/>
        </p:nvPicPr>
        <p:blipFill>
          <a:blip r:embed="rId6"/>
          <a:stretch>
            <a:fillRect/>
          </a:stretch>
        </p:blipFill>
        <p:spPr>
          <a:xfrm>
            <a:off x="6313469" y="5020928"/>
            <a:ext cx="1762371" cy="1686160"/>
          </a:xfrm>
          <a:prstGeom prst="rect">
            <a:avLst/>
          </a:prstGeom>
        </p:spPr>
      </p:pic>
      <p:sp>
        <p:nvSpPr>
          <p:cNvPr id="14" name="TextBox 13">
            <a:extLst>
              <a:ext uri="{FF2B5EF4-FFF2-40B4-BE49-F238E27FC236}">
                <a16:creationId xmlns:a16="http://schemas.microsoft.com/office/drawing/2014/main" id="{524A9755-3F78-2C06-E1A2-ACA61228C2BA}"/>
              </a:ext>
            </a:extLst>
          </p:cNvPr>
          <p:cNvSpPr txBox="1"/>
          <p:nvPr/>
        </p:nvSpPr>
        <p:spPr>
          <a:xfrm>
            <a:off x="5878532" y="4497708"/>
            <a:ext cx="1582994" cy="523220"/>
          </a:xfrm>
          <a:prstGeom prst="rect">
            <a:avLst/>
          </a:prstGeom>
          <a:noFill/>
        </p:spPr>
        <p:txBody>
          <a:bodyPr wrap="square" rtlCol="0">
            <a:spAutoFit/>
          </a:bodyPr>
          <a:lstStyle/>
          <a:p>
            <a:r>
              <a:rPr lang="en-IN" sz="2800" dirty="0">
                <a:latin typeface="Baskerville Old Face" panose="02020602080505020303" pitchFamily="18" charset="0"/>
              </a:rPr>
              <a:t>output</a:t>
            </a:r>
          </a:p>
        </p:txBody>
      </p:sp>
    </p:spTree>
    <p:extLst>
      <p:ext uri="{BB962C8B-B14F-4D97-AF65-F5344CB8AC3E}">
        <p14:creationId xmlns:p14="http://schemas.microsoft.com/office/powerpoint/2010/main" val="301289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EDC63-72E9-EB1F-A89D-13917B0527FF}"/>
              </a:ext>
            </a:extLst>
          </p:cNvPr>
          <p:cNvSpPr>
            <a:spLocks noGrp="1"/>
          </p:cNvSpPr>
          <p:nvPr>
            <p:ph type="title"/>
          </p:nvPr>
        </p:nvSpPr>
        <p:spPr>
          <a:xfrm>
            <a:off x="1116987" y="-516080"/>
            <a:ext cx="10515600" cy="1500187"/>
          </a:xfrm>
        </p:spPr>
        <p:txBody>
          <a:bodyPr>
            <a:noAutofit/>
          </a:bodyPr>
          <a:lstStyle/>
          <a:p>
            <a:r>
              <a:rPr lang="en-US" sz="3200" dirty="0">
                <a:latin typeface="Baskerville Old Face" panose="02020602080505020303" pitchFamily="18" charset="0"/>
              </a:rPr>
              <a:t>24.What is the average quantity ordered per product? </a:t>
            </a:r>
            <a:endParaRPr lang="en-IN" sz="3200" dirty="0">
              <a:latin typeface="Baskerville Old Face" panose="02020602080505020303" pitchFamily="18" charset="0"/>
            </a:endParaRPr>
          </a:p>
        </p:txBody>
      </p:sp>
      <p:sp>
        <p:nvSpPr>
          <p:cNvPr id="3" name="Text Placeholder 2">
            <a:extLst>
              <a:ext uri="{FF2B5EF4-FFF2-40B4-BE49-F238E27FC236}">
                <a16:creationId xmlns:a16="http://schemas.microsoft.com/office/drawing/2014/main" id="{4E634BF5-4F5E-54F9-458E-FAEDECF88CC4}"/>
              </a:ext>
            </a:extLst>
          </p:cNvPr>
          <p:cNvSpPr>
            <a:spLocks noGrp="1"/>
          </p:cNvSpPr>
          <p:nvPr>
            <p:ph type="body" idx="1"/>
          </p:nvPr>
        </p:nvSpPr>
        <p:spPr>
          <a:xfrm>
            <a:off x="3516057" y="2986805"/>
            <a:ext cx="10515600" cy="1500187"/>
          </a:xfrm>
        </p:spPr>
        <p:txBody>
          <a:bodyPr>
            <a:normAutofit/>
          </a:bodyPr>
          <a:lstStyle/>
          <a:p>
            <a:r>
              <a:rPr lang="en-IN" sz="2800" dirty="0">
                <a:solidFill>
                  <a:schemeClr val="tx1"/>
                </a:solidFill>
                <a:latin typeface="Baskerville Old Face" panose="02020602080505020303" pitchFamily="18" charset="0"/>
              </a:rPr>
              <a:t>output</a:t>
            </a:r>
          </a:p>
        </p:txBody>
      </p:sp>
      <p:pic>
        <p:nvPicPr>
          <p:cNvPr id="15" name="Picture 14">
            <a:extLst>
              <a:ext uri="{FF2B5EF4-FFF2-40B4-BE49-F238E27FC236}">
                <a16:creationId xmlns:a16="http://schemas.microsoft.com/office/drawing/2014/main" id="{D5856379-F9FC-0CDA-609E-8064E1A17754}"/>
              </a:ext>
            </a:extLst>
          </p:cNvPr>
          <p:cNvPicPr>
            <a:picLocks noChangeAspect="1"/>
          </p:cNvPicPr>
          <p:nvPr/>
        </p:nvPicPr>
        <p:blipFill>
          <a:blip r:embed="rId2"/>
          <a:stretch>
            <a:fillRect/>
          </a:stretch>
        </p:blipFill>
        <p:spPr>
          <a:xfrm>
            <a:off x="2535464" y="1391015"/>
            <a:ext cx="4820323" cy="1362265"/>
          </a:xfrm>
          <a:prstGeom prst="rect">
            <a:avLst/>
          </a:prstGeom>
        </p:spPr>
      </p:pic>
      <p:pic>
        <p:nvPicPr>
          <p:cNvPr id="17" name="Picture 16">
            <a:extLst>
              <a:ext uri="{FF2B5EF4-FFF2-40B4-BE49-F238E27FC236}">
                <a16:creationId xmlns:a16="http://schemas.microsoft.com/office/drawing/2014/main" id="{5D3BFF3B-8AC0-B171-CD0C-8FFC0A6E71A8}"/>
              </a:ext>
            </a:extLst>
          </p:cNvPr>
          <p:cNvPicPr>
            <a:picLocks noChangeAspect="1"/>
          </p:cNvPicPr>
          <p:nvPr/>
        </p:nvPicPr>
        <p:blipFill>
          <a:blip r:embed="rId3"/>
          <a:stretch>
            <a:fillRect/>
          </a:stretch>
        </p:blipFill>
        <p:spPr>
          <a:xfrm>
            <a:off x="3701084" y="3736898"/>
            <a:ext cx="2095792" cy="2267266"/>
          </a:xfrm>
          <a:prstGeom prst="rect">
            <a:avLst/>
          </a:prstGeom>
        </p:spPr>
      </p:pic>
    </p:spTree>
    <p:extLst>
      <p:ext uri="{BB962C8B-B14F-4D97-AF65-F5344CB8AC3E}">
        <p14:creationId xmlns:p14="http://schemas.microsoft.com/office/powerpoint/2010/main" val="3084260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BBCB0-A72E-1763-29EB-3CFF04CA46B6}"/>
              </a:ext>
            </a:extLst>
          </p:cNvPr>
          <p:cNvSpPr>
            <a:spLocks noGrp="1"/>
          </p:cNvSpPr>
          <p:nvPr>
            <p:ph type="title"/>
          </p:nvPr>
        </p:nvSpPr>
        <p:spPr>
          <a:xfrm>
            <a:off x="4011562" y="3598607"/>
            <a:ext cx="1474840" cy="560438"/>
          </a:xfrm>
        </p:spPr>
        <p:txBody>
          <a:bodyPr>
            <a:normAutofit/>
          </a:bodyPr>
          <a:lstStyle/>
          <a:p>
            <a:r>
              <a:rPr lang="en-IN" sz="3200" dirty="0">
                <a:latin typeface="Baskerville Old Face" panose="02020602080505020303" pitchFamily="18" charset="0"/>
              </a:rPr>
              <a:t>0utput</a:t>
            </a:r>
          </a:p>
        </p:txBody>
      </p:sp>
      <p:sp>
        <p:nvSpPr>
          <p:cNvPr id="5" name="TextBox 4">
            <a:extLst>
              <a:ext uri="{FF2B5EF4-FFF2-40B4-BE49-F238E27FC236}">
                <a16:creationId xmlns:a16="http://schemas.microsoft.com/office/drawing/2014/main" id="{86946855-86A2-19F6-4BFC-0CF32124E0E0}"/>
              </a:ext>
            </a:extLst>
          </p:cNvPr>
          <p:cNvSpPr txBox="1"/>
          <p:nvPr/>
        </p:nvSpPr>
        <p:spPr>
          <a:xfrm>
            <a:off x="914399" y="353961"/>
            <a:ext cx="10697497" cy="584775"/>
          </a:xfrm>
          <a:prstGeom prst="rect">
            <a:avLst/>
          </a:prstGeom>
          <a:noFill/>
        </p:spPr>
        <p:txBody>
          <a:bodyPr wrap="square">
            <a:spAutoFit/>
          </a:bodyPr>
          <a:lstStyle/>
          <a:p>
            <a:r>
              <a:rPr lang="en-US" sz="3200" dirty="0">
                <a:latin typeface="Baskerville Old Face" panose="02020602080505020303" pitchFamily="18" charset="0"/>
              </a:rPr>
              <a:t>25.How does the unit price vary across products and orders? </a:t>
            </a:r>
            <a:endParaRPr lang="en-IN" sz="32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4372A58A-64C1-0DCC-7302-A6B8F19C166D}"/>
              </a:ext>
            </a:extLst>
          </p:cNvPr>
          <p:cNvPicPr>
            <a:picLocks noChangeAspect="1"/>
          </p:cNvPicPr>
          <p:nvPr/>
        </p:nvPicPr>
        <p:blipFill>
          <a:blip r:embed="rId2"/>
          <a:stretch>
            <a:fillRect/>
          </a:stretch>
        </p:blipFill>
        <p:spPr>
          <a:xfrm>
            <a:off x="2657645" y="1287887"/>
            <a:ext cx="4163006" cy="2141113"/>
          </a:xfrm>
          <a:prstGeom prst="rect">
            <a:avLst/>
          </a:prstGeom>
        </p:spPr>
      </p:pic>
      <p:pic>
        <p:nvPicPr>
          <p:cNvPr id="9" name="Picture 8">
            <a:extLst>
              <a:ext uri="{FF2B5EF4-FFF2-40B4-BE49-F238E27FC236}">
                <a16:creationId xmlns:a16="http://schemas.microsoft.com/office/drawing/2014/main" id="{190F1900-F04F-F6C8-96E7-197FEF2DF82A}"/>
              </a:ext>
            </a:extLst>
          </p:cNvPr>
          <p:cNvPicPr>
            <a:picLocks noChangeAspect="1"/>
          </p:cNvPicPr>
          <p:nvPr/>
        </p:nvPicPr>
        <p:blipFill>
          <a:blip r:embed="rId3"/>
          <a:stretch>
            <a:fillRect/>
          </a:stretch>
        </p:blipFill>
        <p:spPr>
          <a:xfrm>
            <a:off x="3038698" y="4189141"/>
            <a:ext cx="3781953" cy="2314898"/>
          </a:xfrm>
          <a:prstGeom prst="rect">
            <a:avLst/>
          </a:prstGeom>
        </p:spPr>
      </p:pic>
    </p:spTree>
    <p:extLst>
      <p:ext uri="{BB962C8B-B14F-4D97-AF65-F5344CB8AC3E}">
        <p14:creationId xmlns:p14="http://schemas.microsoft.com/office/powerpoint/2010/main" val="1299996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B1BBC-EE86-6999-508D-48BD44171997}"/>
              </a:ext>
            </a:extLst>
          </p:cNvPr>
          <p:cNvSpPr>
            <a:spLocks noGrp="1"/>
          </p:cNvSpPr>
          <p:nvPr>
            <p:ph type="title"/>
          </p:nvPr>
        </p:nvSpPr>
        <p:spPr>
          <a:xfrm>
            <a:off x="993058" y="1120878"/>
            <a:ext cx="5733230" cy="1858297"/>
          </a:xfrm>
        </p:spPr>
        <p:txBody>
          <a:bodyPr>
            <a:noAutofit/>
          </a:bodyPr>
          <a:lstStyle/>
          <a:p>
            <a:r>
              <a:rPr lang="en-IN" sz="7200" dirty="0">
                <a:latin typeface="Copperplate Gothic Light" panose="020E0507020206020404" pitchFamily="34" charset="0"/>
              </a:rPr>
              <a:t>Thank </a:t>
            </a:r>
            <a:br>
              <a:rPr lang="en-IN" sz="7200" dirty="0">
                <a:latin typeface="Copperplate Gothic Light" panose="020E0507020206020404" pitchFamily="34" charset="0"/>
              </a:rPr>
            </a:br>
            <a:r>
              <a:rPr lang="en-IN" sz="7200" dirty="0">
                <a:latin typeface="Copperplate Gothic Light" panose="020E0507020206020404" pitchFamily="34" charset="0"/>
              </a:rPr>
              <a:t>          you </a:t>
            </a:r>
          </a:p>
        </p:txBody>
      </p:sp>
      <p:sp>
        <p:nvSpPr>
          <p:cNvPr id="3" name="Text Placeholder 2">
            <a:extLst>
              <a:ext uri="{FF2B5EF4-FFF2-40B4-BE49-F238E27FC236}">
                <a16:creationId xmlns:a16="http://schemas.microsoft.com/office/drawing/2014/main" id="{1DB6472D-7D62-05AA-9D8D-D29A817939A0}"/>
              </a:ext>
            </a:extLst>
          </p:cNvPr>
          <p:cNvSpPr>
            <a:spLocks noGrp="1"/>
          </p:cNvSpPr>
          <p:nvPr>
            <p:ph type="body" idx="1"/>
          </p:nvPr>
        </p:nvSpPr>
        <p:spPr>
          <a:xfrm>
            <a:off x="5427296" y="3245780"/>
            <a:ext cx="10515600" cy="2607955"/>
          </a:xfrm>
        </p:spPr>
        <p:txBody>
          <a:bodyPr>
            <a:normAutofit lnSpcReduction="10000"/>
          </a:bodyPr>
          <a:lstStyle/>
          <a:p>
            <a:r>
              <a:rPr lang="en-IN" sz="4000" dirty="0">
                <a:solidFill>
                  <a:schemeClr val="tx1"/>
                </a:solidFill>
                <a:latin typeface="Baskerville Old Face" panose="02020602080505020303" pitchFamily="18" charset="0"/>
              </a:rPr>
              <a:t>Team Members:</a:t>
            </a:r>
          </a:p>
          <a:p>
            <a:r>
              <a:rPr lang="en-IN" sz="4000" dirty="0">
                <a:solidFill>
                  <a:schemeClr val="tx1"/>
                </a:solidFill>
                <a:latin typeface="Baskerville Old Face" panose="02020602080505020303" pitchFamily="18" charset="0"/>
              </a:rPr>
              <a:t>                  </a:t>
            </a:r>
            <a:r>
              <a:rPr lang="en-IN" sz="4000" dirty="0" err="1">
                <a:solidFill>
                  <a:schemeClr val="tx1"/>
                </a:solidFill>
                <a:latin typeface="Baskerville Old Face" panose="02020602080505020303" pitchFamily="18" charset="0"/>
              </a:rPr>
              <a:t>B.Sai</a:t>
            </a:r>
            <a:r>
              <a:rPr lang="en-IN" sz="4000" dirty="0">
                <a:solidFill>
                  <a:schemeClr val="tx1"/>
                </a:solidFill>
                <a:latin typeface="Baskerville Old Face" panose="02020602080505020303" pitchFamily="18" charset="0"/>
              </a:rPr>
              <a:t> Raj</a:t>
            </a:r>
          </a:p>
          <a:p>
            <a:r>
              <a:rPr lang="en-IN" sz="4000" dirty="0">
                <a:solidFill>
                  <a:schemeClr val="tx1"/>
                </a:solidFill>
                <a:latin typeface="Baskerville Old Face" panose="02020602080505020303" pitchFamily="18" charset="0"/>
              </a:rPr>
              <a:t>                  </a:t>
            </a:r>
            <a:r>
              <a:rPr lang="en-IN" sz="4000" dirty="0" err="1">
                <a:solidFill>
                  <a:schemeClr val="tx1"/>
                </a:solidFill>
                <a:latin typeface="Baskerville Old Face" panose="02020602080505020303" pitchFamily="18" charset="0"/>
              </a:rPr>
              <a:t>S.Manikanta</a:t>
            </a:r>
            <a:endParaRPr lang="en-IN" sz="4000" dirty="0">
              <a:solidFill>
                <a:schemeClr val="tx1"/>
              </a:solidFill>
              <a:latin typeface="Baskerville Old Face" panose="02020602080505020303" pitchFamily="18" charset="0"/>
            </a:endParaRPr>
          </a:p>
          <a:p>
            <a:r>
              <a:rPr lang="en-IN" sz="4000" dirty="0">
                <a:solidFill>
                  <a:schemeClr val="tx1"/>
                </a:solidFill>
                <a:latin typeface="Baskerville Old Face" panose="02020602080505020303" pitchFamily="18" charset="0"/>
              </a:rPr>
              <a:t>                  </a:t>
            </a:r>
            <a:r>
              <a:rPr lang="en-IN" sz="4000" dirty="0" err="1">
                <a:solidFill>
                  <a:schemeClr val="tx1"/>
                </a:solidFill>
                <a:latin typeface="Baskerville Old Face" panose="02020602080505020303" pitchFamily="18" charset="0"/>
              </a:rPr>
              <a:t>k.Mani</a:t>
            </a:r>
            <a:r>
              <a:rPr lang="en-IN" sz="4000" dirty="0">
                <a:solidFill>
                  <a:schemeClr val="tx1"/>
                </a:solidFill>
                <a:latin typeface="Baskerville Old Face" panose="02020602080505020303" pitchFamily="18" charset="0"/>
              </a:rPr>
              <a:t> Koushik</a:t>
            </a:r>
          </a:p>
          <a:p>
            <a:endParaRPr lang="en-IN" sz="4000" dirty="0">
              <a:solidFill>
                <a:schemeClr val="tx1"/>
              </a:solidFill>
              <a:latin typeface="Baskerville Old Face" panose="02020602080505020303" pitchFamily="18" charset="0"/>
            </a:endParaRPr>
          </a:p>
          <a:p>
            <a:endParaRPr lang="en-IN" sz="4000" dirty="0">
              <a:solidFill>
                <a:schemeClr val="tx1"/>
              </a:solidFill>
              <a:latin typeface="Baskerville Old Face" panose="02020602080505020303" pitchFamily="18" charset="0"/>
            </a:endParaRPr>
          </a:p>
          <a:p>
            <a:endParaRPr lang="en-IN" sz="4000" dirty="0">
              <a:solidFill>
                <a:schemeClr val="tx1"/>
              </a:solidFill>
              <a:latin typeface="Baskerville Old Face" panose="02020602080505020303" pitchFamily="18" charset="0"/>
            </a:endParaRPr>
          </a:p>
        </p:txBody>
      </p:sp>
      <p:pic>
        <p:nvPicPr>
          <p:cNvPr id="2050" name="Picture 2" descr="Handshake Silhouette, Transparent Png ...">
            <a:extLst>
              <a:ext uri="{FF2B5EF4-FFF2-40B4-BE49-F238E27FC236}">
                <a16:creationId xmlns:a16="http://schemas.microsoft.com/office/drawing/2014/main" id="{B3FBABBF-CE67-1146-DF9A-E2CF34C295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5393" y="371219"/>
            <a:ext cx="4168877" cy="2275400"/>
          </a:xfrm>
          <a:prstGeom prst="rect">
            <a:avLst/>
          </a:prstGeom>
          <a:noFill/>
          <a:effectLst>
            <a:outerShdw blurRad="50800" dist="50800" dir="5400000" algn="ctr" rotWithShape="0">
              <a:srgbClr val="000000">
                <a:alpha val="40000"/>
              </a:srgbClr>
            </a:outerShdw>
            <a:reflection endPos="0" dist="50800" dir="5400000" sy="-100000" algn="bl" rotWithShape="0"/>
            <a:softEdge rad="9906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97377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3955</TotalTime>
  <Words>592</Words>
  <Application>Microsoft Office PowerPoint</Application>
  <PresentationFormat>Widescreen</PresentationFormat>
  <Paragraphs>80</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Wingdings</vt:lpstr>
      <vt:lpstr>Calibri</vt:lpstr>
      <vt:lpstr>Arial</vt:lpstr>
      <vt:lpstr>Copperplate Gothic Light</vt:lpstr>
      <vt:lpstr>Algerian</vt:lpstr>
      <vt:lpstr>Bell MT</vt:lpstr>
      <vt:lpstr>Baskerville Old Face</vt:lpstr>
      <vt:lpstr>Office Theme</vt:lpstr>
      <vt:lpstr>Grocery Store Inventory Management System</vt:lpstr>
      <vt:lpstr>Introduction</vt:lpstr>
      <vt:lpstr>PowerPoint Presentation</vt:lpstr>
      <vt:lpstr>PowerPoint Presentation</vt:lpstr>
      <vt:lpstr>PowerPoint Presentation</vt:lpstr>
      <vt:lpstr>In the dynamic environment of a retail grocery store, managing and analyzing large volumes of data related to products, suppliers, customers, and orders is crucial for efficient operations and informed decision-making. This project aims to design and implement a relational database system that captures essential store activities and enables users to retrieve and analyze data through SQL. The system will support complex queries to identify key business insights such as top-performing products, high-value customers, and revenue patterns, while reinforcing practical SQL skills including joins, aggregations, subqueries, and filtering.</vt:lpstr>
      <vt:lpstr>1.How many unique customers have placed orders?</vt:lpstr>
      <vt:lpstr>PowerPoint Presentation</vt:lpstr>
      <vt:lpstr>PowerPoint Presentation</vt:lpstr>
      <vt:lpstr>5.How many products exist in each category?</vt:lpstr>
      <vt:lpstr>6.What is the average price of products by category?</vt:lpstr>
      <vt:lpstr>7.Which products have the highest total sales volume (by quantity)?</vt:lpstr>
      <vt:lpstr>8.What is the total revenue generated by each product?</vt:lpstr>
      <vt:lpstr>9.How do product sales vary by category and supplier? </vt:lpstr>
      <vt:lpstr>10.How many orders have been placed in total? </vt:lpstr>
      <vt:lpstr>12.On which dates were the most orders placed?     </vt:lpstr>
      <vt:lpstr>14.How do order patterns vary across weekdays and months?</vt:lpstr>
      <vt:lpstr>15.How many suppliers are there in the database?</vt:lpstr>
      <vt:lpstr>18.Which suppliers contribute the most to total product sales (by revenue)</vt:lpstr>
      <vt:lpstr>20.Which employees have handled the most orders?</vt:lpstr>
      <vt:lpstr>output</vt:lpstr>
      <vt:lpstr>output</vt:lpstr>
      <vt:lpstr>24.What is the average quantity ordered per product? </vt:lpstr>
      <vt:lpstr>0utput</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sai raj</cp:lastModifiedBy>
  <cp:revision>23</cp:revision>
  <dcterms:created xsi:type="dcterms:W3CDTF">2021-02-16T05:19:01Z</dcterms:created>
  <dcterms:modified xsi:type="dcterms:W3CDTF">2025-11-10T17:43:28Z</dcterms:modified>
</cp:coreProperties>
</file>